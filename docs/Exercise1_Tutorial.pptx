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29"/>
  </p:notesMasterIdLst>
  <p:sldIdLst>
    <p:sldId id="379" r:id="rId2"/>
    <p:sldId id="442" r:id="rId3"/>
    <p:sldId id="414" r:id="rId4"/>
    <p:sldId id="415" r:id="rId5"/>
    <p:sldId id="416" r:id="rId6"/>
    <p:sldId id="417" r:id="rId7"/>
    <p:sldId id="418" r:id="rId8"/>
    <p:sldId id="419" r:id="rId9"/>
    <p:sldId id="445" r:id="rId10"/>
    <p:sldId id="421" r:id="rId11"/>
    <p:sldId id="422" r:id="rId12"/>
    <p:sldId id="423" r:id="rId13"/>
    <p:sldId id="44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58" r:id="rId22"/>
    <p:sldId id="455" r:id="rId23"/>
    <p:sldId id="457" r:id="rId24"/>
    <p:sldId id="446" r:id="rId25"/>
    <p:sldId id="449" r:id="rId26"/>
    <p:sldId id="435" r:id="rId27"/>
    <p:sldId id="45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2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8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5DDC-0299-9506-B088-E14EF0C2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7EB79-AB21-9B64-804C-D11681B4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A5977-5EA7-EF46-42E7-FDDC717AB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C287-D49C-98F9-94C3-CC382F13A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9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4314-0CA2-398C-F64B-950ED642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96519-B71A-4243-A060-C17CEA3E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C4CEF-AB0B-88F9-128A-D1C82DA31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15DFE-F57D-F3B8-4471-224E93A30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4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4F1F-1404-2F49-B526-6B3380B0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BCEB-8EC9-9FDC-EBC5-007B5D79F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A87E5-A4F0-0057-029F-D66AB7C7B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CE26-4600-5562-7AEC-F955DF740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93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C13E-008D-8C14-417D-A5D3A67B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45EFA-1184-BF54-C481-08B597C19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093F-6987-741A-699A-66B5A487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860BA-7462-8A4F-7474-1D81D1856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3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215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D3F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5"/>
                </a:solidFill>
                <a:latin typeface="Arial"/>
                <a:ea typeface="Noto Sans TC" pitchFamily="34" charset="-122"/>
                <a:cs typeface="Arial"/>
              </a:rPr>
              <a:t>CE2013 Introduction to CSIE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Exercise 1 Tutorial</a:t>
            </a:r>
            <a:endParaRPr lang="en-US" sz="65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 · GitHub · uv Basics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5500" y="4206240"/>
            <a:ext cx="21590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25500" y="4206240"/>
            <a:ext cx="215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 Version Control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62300" y="4206240"/>
            <a:ext cx="23495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162300" y="4206240"/>
            <a:ext cx="23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GitHub Collaboration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89600" y="4206240"/>
            <a:ext cx="35560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5689600" y="420624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uv Environment Management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23400" y="4206240"/>
            <a:ext cx="17780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9423400" y="420624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Merge Conflict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27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505A4EA-7E8B-7B43-AD4D-E6DA407A61AD}"/>
              </a:ext>
            </a:extLst>
          </p:cNvPr>
          <p:cNvSpPr txBox="1"/>
          <p:nvPr/>
        </p:nvSpPr>
        <p:spPr>
          <a:xfrm>
            <a:off x="546100" y="406400"/>
            <a:ext cx="914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800" b="1" dirty="0">
                <a:solidFill>
                  <a:srgbClr val="1D3F72"/>
                </a:solidFill>
                <a:latin typeface="Arial"/>
                <a:cs typeface="Arial"/>
              </a:rPr>
              <a:t>OVERVIEW</a:t>
            </a:r>
            <a:endParaRPr lang="zh-TW" altLang="en-US" sz="1800" b="1" dirty="0">
              <a:solidFill>
                <a:srgbClr val="1D3F72"/>
              </a:solidFill>
              <a:latin typeface="Arial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1F7758-C24C-5747-BFC8-2176EC3077EB}"/>
              </a:ext>
            </a:extLst>
          </p:cNvPr>
          <p:cNvSpPr txBox="1"/>
          <p:nvPr/>
        </p:nvSpPr>
        <p:spPr>
          <a:xfrm>
            <a:off x="546100" y="739745"/>
            <a:ext cx="10604500" cy="61555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sz="3400" dirty="0"/>
              <a:t>Overview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60C350-1D76-4942-8F6B-88D17FA6C39D}"/>
              </a:ext>
            </a:extLst>
          </p:cNvPr>
          <p:cNvSpPr/>
          <p:nvPr/>
        </p:nvSpPr>
        <p:spPr>
          <a:xfrm>
            <a:off x="1873262" y="1885553"/>
            <a:ext cx="25400" cy="4191000"/>
          </a:xfrm>
          <a:prstGeom prst="rect">
            <a:avLst/>
          </a:prstGeom>
          <a:solidFill>
            <a:srgbClr val="D5DC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sz="1800">
              <a:latin typeface="Arial"/>
              <a:cs typeface="Arial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FB33337-BB24-2B4B-BECD-270750D07C26}"/>
              </a:ext>
            </a:extLst>
          </p:cNvPr>
          <p:cNvSpPr/>
          <p:nvPr/>
        </p:nvSpPr>
        <p:spPr>
          <a:xfrm>
            <a:off x="1631962" y="1631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6FB91E-F2B5-FE4B-AC25-8058FD2C6789}"/>
              </a:ext>
            </a:extLst>
          </p:cNvPr>
          <p:cNvSpPr txBox="1"/>
          <p:nvPr/>
        </p:nvSpPr>
        <p:spPr>
          <a:xfrm>
            <a:off x="2393962" y="16854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altLang="zh-TW" sz="2000" b="1" dirty="0" err="1">
                <a:solidFill>
                  <a:srgbClr val="1B1F3B"/>
                </a:solidFill>
                <a:ea typeface="Noto Sans TC" pitchFamily="34" charset="-122"/>
                <a:cs typeface="Arial"/>
              </a:rPr>
              <a:t>Set Up Project Environment</a:t>
            </a:r>
            <a:endParaRPr lang="en-US" altLang="zh-TW" sz="2000" b="1" dirty="0">
              <a:solidFill>
                <a:srgbClr val="1B1F3B"/>
              </a:solidFill>
              <a:ea typeface="Noto Sans TC" pitchFamily="34" charset="-122"/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4BD3E7-5061-F94C-8D53-0F34587A6A97}"/>
              </a:ext>
            </a:extLst>
          </p:cNvPr>
          <p:cNvSpPr txBox="1"/>
          <p:nvPr/>
        </p:nvSpPr>
        <p:spPr>
          <a:xfrm>
            <a:off x="5072062" y="1698198"/>
            <a:ext cx="5842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Initialize the repo, clone it locally, and set up the Python environment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3CC6159-80EF-8341-AF35-95C3EE958E1B}"/>
              </a:ext>
            </a:extLst>
          </p:cNvPr>
          <p:cNvSpPr/>
          <p:nvPr/>
        </p:nvSpPr>
        <p:spPr>
          <a:xfrm>
            <a:off x="1631962" y="24697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507D380-6699-064B-B940-2E3D7992FF74}"/>
              </a:ext>
            </a:extLst>
          </p:cNvPr>
          <p:cNvSpPr txBox="1"/>
          <p:nvPr/>
        </p:nvSpPr>
        <p:spPr>
          <a:xfrm>
            <a:off x="2393962" y="25078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Project Version Control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FCC04C-0D14-CC43-B626-E95AF1A996E6}"/>
              </a:ext>
            </a:extLst>
          </p:cNvPr>
          <p:cNvSpPr txBox="1"/>
          <p:nvPr/>
        </p:nvSpPr>
        <p:spPr>
          <a:xfrm>
            <a:off x="5072062" y="25459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Create a branch, modify code, and push a commit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7D44322-4074-5946-ACDF-ABD9DB065022}"/>
              </a:ext>
            </a:extLst>
          </p:cNvPr>
          <p:cNvSpPr/>
          <p:nvPr/>
        </p:nvSpPr>
        <p:spPr>
          <a:xfrm>
            <a:off x="1631962" y="33079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634708-E209-5F49-81F0-ABE9EAEBEB3E}"/>
              </a:ext>
            </a:extLst>
          </p:cNvPr>
          <p:cNvSpPr txBox="1"/>
          <p:nvPr/>
        </p:nvSpPr>
        <p:spPr>
          <a:xfrm>
            <a:off x="2393962" y="33460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Add Duplicate-Task Prevention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9C9DB13-F787-5449-980D-5AEB160C9FD1}"/>
              </a:ext>
            </a:extLst>
          </p:cNvPr>
          <p:cNvSpPr txBox="1"/>
          <p:nvPr/>
        </p:nvSpPr>
        <p:spPr>
          <a:xfrm>
            <a:off x="5072062" y="33841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Verify changes, push, and prepare a pull request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662ADA0-A6CD-464C-8933-BF95FB78E90E}"/>
              </a:ext>
            </a:extLst>
          </p:cNvPr>
          <p:cNvSpPr/>
          <p:nvPr/>
        </p:nvSpPr>
        <p:spPr>
          <a:xfrm>
            <a:off x="1631962" y="41461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6155934-3CB9-084E-B7BC-FAAFC912681F}"/>
              </a:ext>
            </a:extLst>
          </p:cNvPr>
          <p:cNvSpPr txBox="1"/>
          <p:nvPr/>
        </p:nvSpPr>
        <p:spPr>
          <a:xfrm>
            <a:off x="2393962" y="42000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en" altLang="zh-TW" dirty="0"/>
              <a:t>PR Merge and Sync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903E75E-58E7-5F4B-BB3C-2D111B755819}"/>
              </a:ext>
            </a:extLst>
          </p:cNvPr>
          <p:cNvSpPr txBox="1"/>
          <p:nvPr/>
        </p:nvSpPr>
        <p:spPr>
          <a:xfrm>
            <a:off x="5072062" y="42223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Review and merge the PR, then sync the latest progress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5B7286E-209C-7C4F-94E0-96DB8BC12013}"/>
              </a:ext>
            </a:extLst>
          </p:cNvPr>
          <p:cNvSpPr/>
          <p:nvPr/>
        </p:nvSpPr>
        <p:spPr>
          <a:xfrm>
            <a:off x="1631962" y="49843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5A6486-01E2-3241-BD95-325B19ABB734}"/>
              </a:ext>
            </a:extLst>
          </p:cNvPr>
          <p:cNvSpPr txBox="1"/>
          <p:nvPr/>
        </p:nvSpPr>
        <p:spPr>
          <a:xfrm>
            <a:off x="2393962" y="50224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Delete-Task Feature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AA150A-A88C-7744-AFF9-FA018CE5DC69}"/>
              </a:ext>
            </a:extLst>
          </p:cNvPr>
          <p:cNvSpPr txBox="1"/>
          <p:nvPr/>
        </p:nvSpPr>
        <p:spPr>
          <a:xfrm>
            <a:off x="5072062" y="50605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/>
              <a:t>Develop the delete-task feature and create a branch conflict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4319AE9-5802-6546-BB96-40CC5C69244F}"/>
              </a:ext>
            </a:extLst>
          </p:cNvPr>
          <p:cNvSpPr/>
          <p:nvPr/>
        </p:nvSpPr>
        <p:spPr>
          <a:xfrm>
            <a:off x="1631962" y="5822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DF31CE-E877-4748-AD71-186EDE5D51CE}"/>
              </a:ext>
            </a:extLst>
          </p:cNvPr>
          <p:cNvSpPr txBox="1"/>
          <p:nvPr/>
        </p:nvSpPr>
        <p:spPr>
          <a:xfrm>
            <a:off x="2393962" y="58606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Resolve Merge Conflict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E4034B7-89AF-804F-8522-F40FEF8F7AD1}"/>
              </a:ext>
            </a:extLst>
          </p:cNvPr>
          <p:cNvSpPr txBox="1"/>
          <p:nvPr/>
        </p:nvSpPr>
        <p:spPr>
          <a:xfrm>
            <a:off x="5072062" y="58987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Resolve the conflict and complete the merge</a:t>
            </a:r>
          </a:p>
        </p:txBody>
      </p:sp>
    </p:spTree>
    <p:extLst>
      <p:ext uri="{BB962C8B-B14F-4D97-AF65-F5344CB8AC3E}">
        <p14:creationId xmlns:p14="http://schemas.microsoft.com/office/powerpoint/2010/main" val="133809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Before development begins, complete three setup steps: create your personal repository, clone it locally, and initialize the Python environment with uv.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a Personal Repository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it from the template and push it to GitHub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Locally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Get the project source code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Initialize the Dev Environment with uv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a virtual environment and install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745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438136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a Personal Repository from the Template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3742121" cy="2026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Log in to GitHub and open the Exercise 1 template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"Use this template"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"Create a new repository"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E10FAE1-E0E8-1BD5-F83A-1A6670AD0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1" y="1904833"/>
            <a:ext cx="7309114" cy="41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5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E519-9CCA-DC9C-AE36-1D7CC165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0F14AF-A19E-55D3-BA64-8CC9538C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1" y="1904833"/>
            <a:ext cx="7300372" cy="419457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EC7439A-E906-CAF8-4C5A-5E7B1276DF90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FDED4D-B597-579F-AE2F-08E6E03D6D87}"/>
              </a:ext>
            </a:extLst>
          </p:cNvPr>
          <p:cNvSpPr txBox="1"/>
          <p:nvPr/>
        </p:nvSpPr>
        <p:spPr>
          <a:xfrm>
            <a:off x="1159199" y="985350"/>
            <a:ext cx="10429394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a Personal Repository from the Template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E538C-B876-F9C1-2C2E-0CC711BFC51E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3BB8CF-E3AE-1D51-F4B9-F0A13A1DE9C4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B6F10F-125F-B238-C082-0FD990ACF00B}"/>
              </a:ext>
            </a:extLst>
          </p:cNvPr>
          <p:cNvSpPr txBox="1"/>
          <p:nvPr/>
        </p:nvSpPr>
        <p:spPr>
          <a:xfrm>
            <a:off x="546100" y="1904833"/>
            <a:ext cx="3742121" cy="152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Enter the repo name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Set Visibility to Public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"Create repository"</a:t>
            </a:r>
          </a:p>
        </p:txBody>
      </p:sp>
    </p:spTree>
    <p:extLst>
      <p:ext uri="{BB962C8B-B14F-4D97-AF65-F5344CB8AC3E}">
        <p14:creationId xmlns:p14="http://schemas.microsoft.com/office/powerpoint/2010/main" val="247254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0168-A2CF-6769-951D-0BBFEFA1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1720DF-6FDD-5CA7-027C-34DF80C8331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317F31-A64E-6590-04F8-C5CDD68783CF}"/>
              </a:ext>
            </a:extLst>
          </p:cNvPr>
          <p:cNvSpPr txBox="1"/>
          <p:nvPr/>
        </p:nvSpPr>
        <p:spPr>
          <a:xfrm>
            <a:off x="1155699" y="990600"/>
            <a:ext cx="80318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Clone the Repository Locally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A0ACCA-B287-97AA-678D-AF41EFDB9849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57CE9D-37D4-EE5A-716E-85C3DC59420B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89EB6F-826B-166F-62C2-6ED1D061C5A7}"/>
              </a:ext>
            </a:extLst>
          </p:cNvPr>
          <p:cNvSpPr txBox="1"/>
          <p:nvPr/>
        </p:nvSpPr>
        <p:spPr>
          <a:xfrm>
            <a:off x="546100" y="1904998"/>
            <a:ext cx="3746500" cy="414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URL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Go to the personal exercise 1 repo page you just created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"Code"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Find the URL under HTTPS, then click the copy button on the right to copy it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6AD7AA5-AD3F-0FD5-35EE-BB02A03A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1904999"/>
            <a:ext cx="7205717" cy="41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81080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Clone the Repository Locally</a:t>
            </a:r>
            <a:endParaRPr lang="en-US" altLang="zh-TW" sz="34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6099" y="1904999"/>
            <a:ext cx="5549901" cy="417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Code: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Press Cmd/Ctrl+Shift+P, type "Git: Clone", and click it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Paste the exercise 1 repo URL, or click "Clone from GitHub" below and select the exercise 1 repo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cd &lt;your code folder path&gt;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clone &lt;exercise 1 repo URL&gt;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that folder in VS Code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C6BF23-BBA8-619E-D475-D244DA64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4998"/>
            <a:ext cx="4912674" cy="23937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D98A91-CD1C-FB0F-23A0-FA5B3205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09491"/>
            <a:ext cx="4918540" cy="7090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73D993-56D8-637B-07EE-BC554977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29299"/>
            <a:ext cx="4912674" cy="84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latin typeface="Arial"/>
                <a:cs typeface="Arial"/>
              </a:rPr>
              <a:t>Initialize the Python Env with uv</a:t>
            </a:r>
            <a:endParaRPr lang="en-US" sz="3400" b="1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6099" y="1905000"/>
            <a:ext cx="4194067" cy="363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the terminal and run uv init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pyproject.toml, python-version, src, etc. were created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todo.py in the terminal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.venv environment was created and check the output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E14EC0E-0E39-57E7-CC18-FC81550B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165" y="1905000"/>
            <a:ext cx="6905736" cy="434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5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Make the first commit on the main branch and push it to GitHub.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67512" y="3727328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main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3040" y="3891920"/>
            <a:ext cx="8961120" cy="0"/>
          </a:xfrm>
          <a:prstGeom prst="line">
            <a:avLst/>
          </a:prstGeom>
          <a:noFill/>
          <a:ln w="317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417320" y="3837056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566160" y="3827912"/>
            <a:ext cx="128016" cy="128016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4013200"/>
            <a:ext cx="2349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init: exercise 1</a:t>
            </a:r>
            <a:endParaRPr lang="en-US" sz="18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project environment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0168" y="3891920"/>
            <a:ext cx="2743200" cy="0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Connector DeleteTask"/>
          <p:cNvSpPr/>
          <p:nvPr/>
        </p:nvSpPr>
        <p:spPr>
          <a:xfrm flipV="1">
            <a:off x="3630168" y="3027812"/>
            <a:ext cx="2738628" cy="864108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309360" y="2968376"/>
            <a:ext cx="118872" cy="118872"/>
          </a:xfrm>
          <a:prstGeom prst="ellipse">
            <a:avLst/>
          </a:prstGeom>
          <a:solidFill>
            <a:srgbClr val="5C6B8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37960" y="284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feature/delete-task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59" y="32004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this branch now — Feature 2 will use it later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30168" y="3891920"/>
            <a:ext cx="2743200" cy="868680"/>
          </a:xfrm>
          <a:prstGeom prst="line">
            <a:avLst/>
          </a:prstGeom>
          <a:noFill/>
          <a:ln w="25400">
            <a:solidFill>
              <a:srgbClr val="2E6FF2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4705736"/>
            <a:ext cx="118872" cy="118872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460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feature/add-task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59" y="49657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Next, start developing Feature 1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44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Push the First 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35197" cy="470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 the Source Control panel, click the + next to Changes to stage all file changes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Enter a commit message and click the checkmark to commit the staged changes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Sync Changes to push to GitHub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add .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commit -m "init: exercise 1 project environment"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push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304D9F9-B10D-360E-196E-040393B1C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21" y="4283914"/>
            <a:ext cx="4025900" cy="14224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FC93362-35B2-E400-713B-05A706857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147" y="1904833"/>
            <a:ext cx="2702686" cy="212043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510CE01-8A02-F2D5-F849-5477E891F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297" y="1904661"/>
            <a:ext cx="2999174" cy="21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4867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the feature/delete-task Branch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341210" cy="436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current branch name (main) in the bottom-left corner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Select "Create new branch"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Enter feature/delete-task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feature/delete-task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4A815A7-C390-7FC1-BAA1-89C573408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10" y="2545760"/>
            <a:ext cx="6758589" cy="22291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8A1C05C-D9E3-5BBF-53CC-C12DC8A93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310" y="4996699"/>
            <a:ext cx="6758590" cy="77473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E0B8137-9783-DDEB-653D-7F732C9B8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310" y="1904833"/>
            <a:ext cx="2832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9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025965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the feature/add-task Branch</a:t>
            </a:r>
            <a:endParaRPr lang="en-US" altLang="zh-TW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091277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branch name (feature/delete-task) in the bottom-left corner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local main branch to switch to it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Repeat the previous step to create the feature/add-task branch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feature/add-task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DC5F26-34D9-3FE7-53AA-A3265CDB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357" y="1904833"/>
            <a:ext cx="2908300" cy="431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34745F-AA39-6B7C-8550-06394F4E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57" y="2567655"/>
            <a:ext cx="6532807" cy="262100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6D35A1B-8A35-761D-2639-6762A067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77" y="5419683"/>
            <a:ext cx="6532807" cy="67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5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3 · Add Duplicate-Task Prevention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Continuing on the feature/add-task branch, strengthen the duplicate check before add_task adds a new item, and update the display and verification flow.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Check Whether the Task Is Duplicate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Compare names before add_task adds an item, and skip the addition if it is a duplicate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Update the Display Logic Accordingly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displays the current item count; main() adds a duplicate test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Verify and Push the Commit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todo.py to confirm the output, then push the commit</a:t>
            </a:r>
          </a:p>
        </p:txBody>
      </p:sp>
    </p:spTree>
    <p:extLst>
      <p:ext uri="{BB962C8B-B14F-4D97-AF65-F5344CB8AC3E}">
        <p14:creationId xmlns:p14="http://schemas.microsoft.com/office/powerpoint/2010/main" val="24135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Add Duplicate-Task Prevention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019381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Modify todo.py to Prevent Duplicate Tasks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79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add_task(): add a duplicate check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show_tasks(): display the item count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main(): add a duplicate-prevention demo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3CD35E-98EB-A2FD-1C25-C6181F72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19" y="1904833"/>
            <a:ext cx="5752661" cy="448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Add Duplicate-Task Prevention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Verify, Then Push the 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5161017" cy="194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todo.py in the terminal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duplicate task is blocked and a message is printed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header shows "1 item total"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Repeat the earlier commit steps, commit "add: prevent duplicate task", and push to GitHub</a:t>
            </a:r>
            <a:endParaRPr lang="zh-TW" altLang="zh-TW" sz="2000" dirty="0">
              <a:solidFill>
                <a:srgbClr val="5C6B85"/>
              </a:solidFill>
              <a:latin typeface="Arial"/>
              <a:cs typeface="Arial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ADE515E-3267-75E8-0066-8EF83685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7" y="3042575"/>
            <a:ext cx="5866284" cy="80989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445F6E7-2A12-3D78-A9E9-FDCD269A6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115" y="1936363"/>
            <a:ext cx="5866285" cy="6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0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Compare &amp;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base: main ← compare: feature/add-task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26664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55264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483864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483864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Check the Diff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83864" y="3526159"/>
            <a:ext cx="1993392" cy="2222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 Files changed, confirm only todo.py was modified, write a brief PR description, then click Create pull request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33288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61888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190488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190488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190488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Merge pull request → Confirm merge to complete the merge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39912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668512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897112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8897112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97112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Sync the Local main Branch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897112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&amp;&amp; git pull, then run uv run python todo.py to verify Feature 1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14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1049742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Go Back to GitHub to Open a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4183557" cy="299282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Go to your personal exercise 1 repository page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"Compare &amp; pull request"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BA9220B-544E-CEFB-BF42-EB22E01E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55" y="1905000"/>
            <a:ext cx="692347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10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2433-A1A4-5FD9-631E-0B5B8811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8A2B8-EC79-E0E9-27E9-4E6DD50E1B07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D233D3-F0F7-B04E-7BFC-74552146419B}"/>
              </a:ext>
            </a:extLst>
          </p:cNvPr>
          <p:cNvSpPr txBox="1"/>
          <p:nvPr/>
        </p:nvSpPr>
        <p:spPr>
          <a:xfrm>
            <a:off x="1155700" y="990600"/>
            <a:ext cx="10490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Review Changes Before Opening 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80762F-9DCD-ECA4-5A9B-70FC317FA7A5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8D240D-A4C8-BE0D-E4BB-915D025AA564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5AE142-DA52-179E-C08B-4A84D297A8A4}"/>
              </a:ext>
            </a:extLst>
          </p:cNvPr>
          <p:cNvSpPr txBox="1"/>
          <p:nvPr/>
        </p:nvSpPr>
        <p:spPr>
          <a:xfrm>
            <a:off x="546098" y="1905001"/>
            <a:ext cx="413100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Review the commit history and file changes below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only todo.py was modified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6CB7B9-C5CC-F14F-FF23-B7F5B465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03" y="1905001"/>
            <a:ext cx="6968799" cy="399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64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C1F8-0534-EA96-5608-B8BB11ED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84E596-5492-F250-E1F9-83FF60F2A6F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C7738F-27D4-925A-B633-1E11571E8091}"/>
              </a:ext>
            </a:extLst>
          </p:cNvPr>
          <p:cNvSpPr txBox="1"/>
          <p:nvPr/>
        </p:nvSpPr>
        <p:spPr>
          <a:xfrm>
            <a:off x="1155700" y="990600"/>
            <a:ext cx="10477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Review Changes Before Opening 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E33A4C-615D-6132-9450-5AA3C0DBC0C1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DC8C12-EF7B-1841-8C8B-AC19F4B6D7E9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A4A6B7-289D-9E52-9EFD-ED9ED5FA964D}"/>
              </a:ext>
            </a:extLst>
          </p:cNvPr>
          <p:cNvSpPr txBox="1"/>
          <p:nvPr/>
        </p:nvSpPr>
        <p:spPr>
          <a:xfrm>
            <a:off x="546098" y="1905001"/>
            <a:ext cx="410998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Scroll back up to confirm base: main ← compare: feature/add-task and that the right side shows "Able to merge"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"Create Pull Request"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458072-7B0D-6723-F256-5C157B3E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2"/>
            <a:ext cx="6985000" cy="400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30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990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the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5203061" cy="358931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After the PR is created, click "Merge pull request"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"Confirm merge" again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"Pull request successfully merged and closed" confirms the merge succeeded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7D6567F-92CF-8CDA-C892-3E6788051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7" t="58975" r="30804" b="20042"/>
          <a:stretch>
            <a:fillRect/>
          </a:stretch>
        </p:blipFill>
        <p:spPr>
          <a:xfrm>
            <a:off x="5749159" y="1905000"/>
            <a:ext cx="4729655" cy="9249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7DB8CF-A5A1-0792-F130-5EC8A611B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01" t="45411" r="30865"/>
          <a:stretch>
            <a:fillRect/>
          </a:stretch>
        </p:blipFill>
        <p:spPr>
          <a:xfrm>
            <a:off x="5749159" y="3039820"/>
            <a:ext cx="4729655" cy="238500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76AACF-CFEB-1473-6840-7CA66F2D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159" y="5634740"/>
            <a:ext cx="4729656" cy="5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Sync and Verify Feature 1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7" y="1905000"/>
            <a:ext cx="6192159" cy="477012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Sync the local main branch to the latest progress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Code: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branch name (bottom-left) to switch to main 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Git Graph and click Pull at the top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Terminal: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pull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Verify Feature 1: </a:t>
            </a: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python todo.py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duplicate task is blocked and the count is shown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B0A0E1-8A15-2315-B513-7A6E8DBAA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1" y="1905000"/>
            <a:ext cx="3683000" cy="78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9D823E-FDA3-9B49-EB32-D29891E1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1" y="3059754"/>
            <a:ext cx="3733800" cy="76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09EE2AF-1ECD-5420-7B11-B44B4E9AD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62137"/>
            <a:ext cx="5850280" cy="63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4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Recap: Phases 1–4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D5514CD-BCEC-9E45-81A6-147529242FD4}"/>
              </a:ext>
            </a:extLst>
          </p:cNvPr>
          <p:cNvSpPr/>
          <p:nvPr/>
        </p:nvSpPr>
        <p:spPr>
          <a:xfrm>
            <a:off x="546100" y="18796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EB6359-D069-2B4A-BA9B-72C9CB9084DE}"/>
              </a:ext>
            </a:extLst>
          </p:cNvPr>
          <p:cNvSpPr txBox="1"/>
          <p:nvPr/>
        </p:nvSpPr>
        <p:spPr>
          <a:xfrm>
            <a:off x="1333500" y="18288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Use the template to create separate repositories, so version history is trackable from the start and everyone works independently.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3E684D8-115E-AF4C-97FE-A61F6ABA883A}"/>
              </a:ext>
            </a:extLst>
          </p:cNvPr>
          <p:cNvSpPr/>
          <p:nvPr/>
        </p:nvSpPr>
        <p:spPr>
          <a:xfrm>
            <a:off x="546100" y="30988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2F54D8-8C98-B344-8DE5-098654B38381}"/>
              </a:ext>
            </a:extLst>
          </p:cNvPr>
          <p:cNvSpPr txBox="1"/>
          <p:nvPr/>
        </p:nvSpPr>
        <p:spPr>
          <a:xfrm>
            <a:off x="1333500" y="30480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Use feature branches to isolate development, keeping main stable and enabling multiple features to be developed in parallel.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0A9B0A3-B5B6-3640-B23A-1BEFC5196B47}"/>
              </a:ext>
            </a:extLst>
          </p:cNvPr>
          <p:cNvSpPr/>
          <p:nvPr/>
        </p:nvSpPr>
        <p:spPr>
          <a:xfrm>
            <a:off x="546100" y="43180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34A0516-C973-D24E-ABBA-D4B0B0270BD5}"/>
              </a:ext>
            </a:extLst>
          </p:cNvPr>
          <p:cNvSpPr txBox="1"/>
          <p:nvPr/>
        </p:nvSpPr>
        <p:spPr>
          <a:xfrm>
            <a:off x="1333500" y="42672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3 · Duplicate-Task Prevention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Understand the existing code logic before modifying a feature, and build the habit of considering edge cases at the same time.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CDB2C8D-4681-5C40-9041-A0D5741FC720}"/>
              </a:ext>
            </a:extLst>
          </p:cNvPr>
          <p:cNvSpPr/>
          <p:nvPr/>
        </p:nvSpPr>
        <p:spPr>
          <a:xfrm>
            <a:off x="546100" y="55372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98129C-47D9-8D45-A26C-B473B69410DD}"/>
              </a:ext>
            </a:extLst>
          </p:cNvPr>
          <p:cNvSpPr txBox="1"/>
          <p:nvPr/>
        </p:nvSpPr>
        <p:spPr>
          <a:xfrm>
            <a:off x="1333500" y="54864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A pull request is the checkpoint for code review and version sync, ensuring changes are reviewed and verified before merging into main.</a:t>
            </a:r>
          </a:p>
        </p:txBody>
      </p:sp>
    </p:spTree>
    <p:extLst>
      <p:ext uri="{BB962C8B-B14F-4D97-AF65-F5344CB8AC3E}">
        <p14:creationId xmlns:p14="http://schemas.microsoft.com/office/powerpoint/2010/main" val="513111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892040"/>
            <a:ext cx="4572000" cy="4572000"/>
          </a:xfrm>
          <a:prstGeom prst="ellipse">
            <a:avLst/>
          </a:prstGeom>
          <a:solidFill>
            <a:srgbClr val="EAF1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BBD3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149840" y="-1188720"/>
            <a:ext cx="3108960" cy="3108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38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Submission Requirements</a:t>
            </a:r>
            <a:endParaRPr lang="en-US" sz="5400" dirty="0">
              <a:latin typeface="Arial"/>
              <a:cs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AC09860-E76E-9C43-8982-1F7D9839BB41}"/>
              </a:ext>
            </a:extLst>
          </p:cNvPr>
          <p:cNvSpPr txBox="1"/>
          <p:nvPr/>
        </p:nvSpPr>
        <p:spPr>
          <a:xfrm>
            <a:off x="822960" y="2717487"/>
            <a:ext cx="9655854" cy="221406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Items to Submit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GitHub repo link (including the merge records of both the Feature 1 and Feature 2 PRs)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 Graph screenshot (from VS Code, clearly showing the branching and merge process)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Assignment Rules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Each assignment is worth 2.5% of the grade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Due by 23:59 on the day of class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CB6DD4D-1370-546F-4FC6-33A9BEBE0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93355"/>
            <a:ext cx="48768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0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5 · Delete-Task Feature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 a delete_task feature on the feature/delete-task branch, allowing users to remove a task from the list by name.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00" name="Card BG 3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Card Icon 3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Card Num 3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</a:p>
        </p:txBody>
      </p:sp>
      <p:sp>
        <p:nvSpPr>
          <p:cNvPr id="303" name="Card Title 3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Find and Remove the Task</a:t>
            </a:r>
          </a:p>
        </p:txBody>
      </p:sp>
      <p:sp>
        <p:nvSpPr>
          <p:cNvPr id="304" name="Card Desc 3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delete_task searches the list by name and removes the matching entry if found</a:t>
            </a:r>
          </a:p>
        </p:txBody>
      </p:sp>
      <p:sp>
        <p:nvSpPr>
          <p:cNvPr id="305" name="Card BG 305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 Icon 306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Card Num 307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308" name="Card Title 308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Handle the Not-Found Case</a:t>
            </a:r>
          </a:p>
        </p:txBody>
      </p:sp>
      <p:sp>
        <p:nvSpPr>
          <p:cNvPr id="309" name="Card Desc 309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 a message if the name does not exist, without interrupting program execution</a:t>
            </a:r>
          </a:p>
        </p:txBody>
      </p:sp>
      <p:sp>
        <p:nvSpPr>
          <p:cNvPr id="310" name="Card BG 31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Card Icon 31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Card Num 31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313" name="Card Title 31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Update the Display and Push the Commit</a:t>
            </a:r>
          </a:p>
        </p:txBody>
      </p:sp>
      <p:sp>
        <p:nvSpPr>
          <p:cNvPr id="314" name="Card Desc 31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re-displays the list; verify it, then push the commit</a:t>
            </a:r>
          </a:p>
        </p:txBody>
      </p:sp>
    </p:spTree>
    <p:extLst>
      <p:ext uri="{BB962C8B-B14F-4D97-AF65-F5344CB8AC3E}">
        <p14:creationId xmlns:p14="http://schemas.microsoft.com/office/powerpoint/2010/main" val="2127545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5 · Delete-Task Feature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6099" y="990600"/>
            <a:ext cx="947025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Push the Delete-Task Feature and Open a PR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02" name="Text Step List"/>
          <p:cNvSpPr txBox="1"/>
          <p:nvPr/>
        </p:nvSpPr>
        <p:spPr>
          <a:xfrm>
            <a:off x="546100" y="1905000"/>
            <a:ext cx="4572000" cy="419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Switch to the feature/delete-task branch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Modify todo.py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 "add: delete task" and push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a PR on the GitHub page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E320D5-9122-ED70-184C-0438770A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905000"/>
            <a:ext cx="6527800" cy="44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3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kern="0" spc="200" dirty="0">
                <a:solidFill>
                  <a:srgbClr val="1D3F72"/>
                </a:solidFill>
                <a:ea typeface="Noto Sans TC" pitchFamily="34" charset="-122"/>
                <a:cs typeface="Arial"/>
              </a:rPr>
              <a:t>PHASE 5 · Delete-Task Feature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A Conflict Appears: Merge Conflicts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After creating the PR, the page shows a red “Can't automatically merge” message — GitHub is telling you in advance that main and feature/delete-task already conflict.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Conflict Markers in todo.py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&lt;&lt;&lt;&lt;&lt;&lt;&lt; main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To-Do List ({len(tasks)} items total) 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=======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To-Do List ({len(tasks)} items remaining) 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&gt;&gt;&gt;&gt;&gt;&gt;&gt; feature/delete-task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21488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76809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Why the Conflict Happened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680960" y="27432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Both branches modified the same title line in show_tasks()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But changed it to different content ("total" vs "remaining")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Other parts (duplicate prevention, delete_task) don't conflict — Git will merge them automatically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EAE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On the PR page: a red "Merge conflicts" label, the message "This branch has conflicts that must be resolved," and a grayed-out, unclickable "Merge pull request" button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3320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6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Resolve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Conflict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Edit on the web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dropdown arrow next to "Resolve conflicts" → select "Edit on the web" (do not choose "Fix with Copilot")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55264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83864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34838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83864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Keep One Version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Delete the conflict markers (&lt;&lt;&lt;&lt;&lt;&lt;&lt;, =======, &gt;&gt;&gt;&gt;&gt;&gt;&gt;) and the line you don't want, keeping only one version of the title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61888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90488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904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190488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Mark as resolved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190488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Once the red "1 conflict" in the top-right disappears and turns into a green checkmark "Resolved," click "Mark as resolved"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68512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897112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897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97112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Commit merge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97112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Go back to the PR page and click the green "Commit merge" button to complete the merge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Then sync locally: git checkout main &amp;&amp; git pull, run uv run todo.py, and confirm the duplicate-prevention and delete features both work correctly and the header displays properly.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82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7417996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2E6F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Noto Sans T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Noto Sans T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BDBF3F-32E4-0B4C-BB8D-0A8EBFCC1EF3}">
  <we:reference id="wa200010725" version="1.0.0.1" store="zh-TW" storeType="OMEX"/>
  <we:alternateReferences>
    <we:reference id="WA200010725" version="1.0.0.1" store="WA200010725" storeType="OMEX"/>
  </we:alternateReferences>
  <we:properties>
    <we:property name="claude.fileId" value="&quot;638f36e9-a412-4447-9e56-68fe7ad0c1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1823</Words>
  <Application>Microsoft Macintosh PowerPoint</Application>
  <PresentationFormat>寬螢幕</PresentationFormat>
  <Paragraphs>275</Paragraphs>
  <Slides>27</Slides>
  <Notes>26</Notes>
  <HiddenSlides>4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0" baseType="lpstr">
      <vt:lpstr>Noto Sans TC</vt:lpstr>
      <vt:lpstr>Arial</vt:lpstr>
      <vt:lpstr>Office Theme [1789574179963]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薛耀智 (115522076)</cp:lastModifiedBy>
  <cp:revision>99</cp:revision>
  <dcterms:created xsi:type="dcterms:W3CDTF">2026-09-15T08:24:35Z</dcterms:created>
  <dcterms:modified xsi:type="dcterms:W3CDTF">2026-09-18T02:40:52Z</dcterms:modified>
</cp:coreProperties>
</file>