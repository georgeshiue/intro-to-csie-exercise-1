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4" r:id="rId1"/>
  </p:sldMasterIdLst>
  <p:notesMasterIdLst>
    <p:notesMasterId r:id="rId29"/>
  </p:notesMasterIdLst>
  <p:sldIdLst>
    <p:sldId id="379" r:id="rId2"/>
    <p:sldId id="442" r:id="rId3"/>
    <p:sldId id="414" r:id="rId4"/>
    <p:sldId id="415" r:id="rId5"/>
    <p:sldId id="416" r:id="rId6"/>
    <p:sldId id="417" r:id="rId7"/>
    <p:sldId id="418" r:id="rId8"/>
    <p:sldId id="419" r:id="rId9"/>
    <p:sldId id="445" r:id="rId10"/>
    <p:sldId id="421" r:id="rId11"/>
    <p:sldId id="422" r:id="rId12"/>
    <p:sldId id="423" r:id="rId13"/>
    <p:sldId id="444" r:id="rId14"/>
    <p:sldId id="425" r:id="rId15"/>
    <p:sldId id="426" r:id="rId16"/>
    <p:sldId id="427" r:id="rId17"/>
    <p:sldId id="428" r:id="rId18"/>
    <p:sldId id="429" r:id="rId19"/>
    <p:sldId id="430" r:id="rId20"/>
    <p:sldId id="431" r:id="rId21"/>
    <p:sldId id="432" r:id="rId22"/>
    <p:sldId id="455" r:id="rId23"/>
    <p:sldId id="457" r:id="rId24"/>
    <p:sldId id="446" r:id="rId25"/>
    <p:sldId id="449" r:id="rId26"/>
    <p:sldId id="435" r:id="rId27"/>
    <p:sldId id="436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54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208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884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89971-E654-CB08-43E1-7F48E8A2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E8DF7-EF28-A56D-AE70-0B38230DD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F8049-30B6-6DB4-06EB-AD86EB42E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6883E-C696-A6F7-7038-58AF3AFAD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386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75DDC-0299-9506-B088-E14EF0C2A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B7EB79-AB21-9B64-804C-D11681B447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A5977-5EA7-EF46-42E7-FDDC717ABA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9C287-D49C-98F9-94C3-CC382F13A3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629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54314-0CA2-398C-F64B-950ED6422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396519-B71A-4243-A060-C17CEA3E4B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1C4CEF-AB0B-88F9-128A-D1C82DA31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15DFE-F57D-F3B8-4471-224E93A305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989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89971-E654-CB08-43E1-7F48E8A2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E8DF7-EF28-A56D-AE70-0B38230DD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F8049-30B6-6DB4-06EB-AD86EB42E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6883E-C696-A6F7-7038-58AF3AFAD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3862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89971-E654-CB08-43E1-7F48E8A2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E8DF7-EF28-A56D-AE70-0B38230DD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F8049-30B6-6DB4-06EB-AD86EB42E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6883E-C696-A6F7-7038-58AF3AFAD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3862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89971-E654-CB08-43E1-7F48E8A2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E8DF7-EF28-A56D-AE70-0B38230DD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F8049-30B6-6DB4-06EB-AD86EB42E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6883E-C696-A6F7-7038-58AF3AFAD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3862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89971-E654-CB08-43E1-7F48E8A2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E8DF7-EF28-A56D-AE70-0B38230DD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F8049-30B6-6DB4-06EB-AD86EB42E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6883E-C696-A6F7-7038-58AF3AFAD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3862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89971-E654-CB08-43E1-7F48E8A2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E8DF7-EF28-A56D-AE70-0B38230DD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F8049-30B6-6DB4-06EB-AD86EB42E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6883E-C696-A6F7-7038-58AF3AFAD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3862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6449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A4F1F-1404-2F49-B526-6B3380B0A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F1BCEB-8EC9-9FDC-EBC5-007B5D79F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8A87E5-A4F0-0057-029F-D66AB7C7BC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7CE26-4600-5562-7AEC-F955DF7406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9932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4C13E-008D-8C14-417D-A5D3A67B1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D45EFA-1184-BF54-C481-08B597C19C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9A093F-6987-741A-699A-66B5A487CE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860BA-7462-8A4F-7474-1D81D18561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7332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eorgeShiue/intro-to-csie-exercise-1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1215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D3F7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10881360" y="4480560"/>
            <a:ext cx="2377440" cy="237744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chemeClr val="accent5"/>
                </a:solidFill>
                <a:latin typeface="Arial"/>
                <a:ea typeface="Noto Sans TC" pitchFamily="34" charset="-122"/>
                <a:cs typeface="Arial"/>
              </a:rPr>
              <a:t>CE2013 </a:t>
            </a:r>
            <a:r>
              <a:rPr lang="en-US" b="1" kern="0" spc="200" dirty="0" err="1">
                <a:solidFill>
                  <a:schemeClr val="accent5"/>
                </a:solidFill>
                <a:latin typeface="Arial"/>
                <a:ea typeface="Noto Sans TC" pitchFamily="34" charset="-122"/>
                <a:cs typeface="Arial"/>
              </a:rPr>
              <a:t>資訊工程概論</a:t>
            </a:r>
            <a:endParaRPr lang="en-US" dirty="0">
              <a:solidFill>
                <a:schemeClr val="accent5"/>
              </a:solidFill>
              <a:latin typeface="Arial"/>
              <a:cs typeface="Arial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Exercise 1 實作教學</a:t>
            </a:r>
            <a:endParaRPr lang="en-US" sz="6500" dirty="0">
              <a:latin typeface="Arial"/>
              <a:cs typeface="Arial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 err="1">
                <a:solidFill>
                  <a:srgbClr val="CBD3E8"/>
                </a:solidFill>
                <a:latin typeface="Arial"/>
                <a:ea typeface="Noto Sans TC" pitchFamily="34" charset="-122"/>
                <a:cs typeface="Arial"/>
              </a:rPr>
              <a:t>Git・GitHub・uv</a:t>
            </a:r>
            <a:r>
              <a:rPr lang="en-US" sz="2800" dirty="0">
                <a:solidFill>
                  <a:srgbClr val="CBD3E8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2800" dirty="0" err="1">
                <a:solidFill>
                  <a:srgbClr val="CBD3E8"/>
                </a:solidFill>
                <a:latin typeface="Arial"/>
                <a:ea typeface="Noto Sans TC" pitchFamily="34" charset="-122"/>
                <a:cs typeface="Arial"/>
              </a:rPr>
              <a:t>基礎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4206240"/>
            <a:ext cx="1170432" cy="457200"/>
          </a:xfrm>
          <a:prstGeom prst="roundRect">
            <a:avLst>
              <a:gd name="adj" fmla="val 50000"/>
            </a:avLst>
          </a:prstGeom>
          <a:solidFill>
            <a:srgbClr val="12152B"/>
          </a:solidFill>
          <a:ln w="9525">
            <a:solidFill>
              <a:srgbClr val="5C6B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420624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3E8"/>
                </a:solidFill>
                <a:latin typeface="Arial"/>
                <a:ea typeface="Noto Sans TC" pitchFamily="34" charset="-122"/>
                <a:cs typeface="Arial"/>
              </a:rPr>
              <a:t>Git 版控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194560" y="4206240"/>
            <a:ext cx="1609344" cy="457200"/>
          </a:xfrm>
          <a:prstGeom prst="roundRect">
            <a:avLst>
              <a:gd name="adj" fmla="val 50000"/>
            </a:avLst>
          </a:prstGeom>
          <a:solidFill>
            <a:srgbClr val="12152B"/>
          </a:solidFill>
          <a:ln w="9525">
            <a:solidFill>
              <a:srgbClr val="5C6B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2194560" y="420624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3E8"/>
                </a:solidFill>
                <a:latin typeface="Arial"/>
                <a:ea typeface="Noto Sans TC" pitchFamily="34" charset="-122"/>
                <a:cs typeface="Arial"/>
              </a:rPr>
              <a:t>GitHub 協作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005072" y="420624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12152B"/>
          </a:solidFill>
          <a:ln w="9525">
            <a:solidFill>
              <a:srgbClr val="5C6B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 txBox="1"/>
          <p:nvPr/>
        </p:nvSpPr>
        <p:spPr>
          <a:xfrm>
            <a:off x="4005072" y="4206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3E8"/>
                </a:solidFill>
                <a:latin typeface="Arial"/>
                <a:ea typeface="Noto Sans TC" pitchFamily="34" charset="-122"/>
                <a:cs typeface="Arial"/>
              </a:rPr>
              <a:t>uv 環境管理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879592" y="4206240"/>
            <a:ext cx="1719072" cy="457200"/>
          </a:xfrm>
          <a:prstGeom prst="roundRect">
            <a:avLst>
              <a:gd name="adj" fmla="val 50000"/>
            </a:avLst>
          </a:prstGeom>
          <a:solidFill>
            <a:srgbClr val="12152B"/>
          </a:solidFill>
          <a:ln w="9525">
            <a:solidFill>
              <a:srgbClr val="5C6B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5879592" y="420624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3E8"/>
                </a:solidFill>
                <a:latin typeface="Arial"/>
                <a:ea typeface="Noto Sans TC" pitchFamily="34" charset="-122"/>
                <a:cs typeface="Arial"/>
              </a:rPr>
              <a:t>Merge Conflict</a:t>
            </a:r>
            <a:endParaRPr lang="en-US"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8278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505A4EA-7E8B-7B43-AD4D-E6DA407A61AD}"/>
              </a:ext>
            </a:extLst>
          </p:cNvPr>
          <p:cNvSpPr txBox="1"/>
          <p:nvPr/>
        </p:nvSpPr>
        <p:spPr>
          <a:xfrm>
            <a:off x="546100" y="406400"/>
            <a:ext cx="9144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800" b="1" dirty="0">
                <a:solidFill>
                  <a:srgbClr val="1D3F72"/>
                </a:solidFill>
                <a:latin typeface="Arial"/>
                <a:cs typeface="Arial"/>
              </a:rPr>
              <a:t>OVERVIEW</a:t>
            </a:r>
            <a:endParaRPr lang="zh-TW" altLang="en-US" sz="1800" b="1" dirty="0">
              <a:solidFill>
                <a:srgbClr val="1D3F72"/>
              </a:solidFill>
              <a:latin typeface="Arial"/>
              <a:cs typeface="Arial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41F7758-C24C-5747-BFC8-2176EC3077EB}"/>
              </a:ext>
            </a:extLst>
          </p:cNvPr>
          <p:cNvSpPr txBox="1"/>
          <p:nvPr/>
        </p:nvSpPr>
        <p:spPr>
          <a:xfrm>
            <a:off x="546100" y="739745"/>
            <a:ext cx="10604500" cy="615553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sz="3400" dirty="0"/>
              <a:t>實作總覽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D60C350-1D76-4942-8F6B-88D17FA6C39D}"/>
              </a:ext>
            </a:extLst>
          </p:cNvPr>
          <p:cNvSpPr/>
          <p:nvPr/>
        </p:nvSpPr>
        <p:spPr>
          <a:xfrm>
            <a:off x="1873262" y="1885553"/>
            <a:ext cx="25400" cy="4191000"/>
          </a:xfrm>
          <a:prstGeom prst="rect">
            <a:avLst/>
          </a:prstGeom>
          <a:solidFill>
            <a:srgbClr val="D5DCE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sz="1800">
              <a:latin typeface="Arial"/>
              <a:cs typeface="Arial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BFB33337-BB24-2B4B-BECD-270750D07C26}"/>
              </a:ext>
            </a:extLst>
          </p:cNvPr>
          <p:cNvSpPr/>
          <p:nvPr/>
        </p:nvSpPr>
        <p:spPr>
          <a:xfrm>
            <a:off x="1631962" y="1631553"/>
            <a:ext cx="508000" cy="508000"/>
          </a:xfrm>
          <a:prstGeom prst="ellipse">
            <a:avLst/>
          </a:prstGeom>
          <a:solidFill>
            <a:srgbClr val="1D3F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sz="18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zh-TW" altLang="en-US" sz="18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D6FB91E-F2B5-FE4B-AC25-8058FD2C6789}"/>
              </a:ext>
            </a:extLst>
          </p:cNvPr>
          <p:cNvSpPr txBox="1"/>
          <p:nvPr/>
        </p:nvSpPr>
        <p:spPr>
          <a:xfrm>
            <a:off x="2393962" y="1685498"/>
            <a:ext cx="2706688" cy="40011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r>
              <a:rPr lang="en-US" altLang="zh-TW" sz="2000" b="1" dirty="0" err="1">
                <a:solidFill>
                  <a:srgbClr val="1B1F3B"/>
                </a:solidFill>
                <a:ea typeface="Noto Sans TC" pitchFamily="34" charset="-122"/>
                <a:cs typeface="Arial"/>
              </a:rPr>
              <a:t>建立專案環境</a:t>
            </a:r>
            <a:endParaRPr lang="en-US" altLang="zh-TW" sz="2000" b="1" dirty="0">
              <a:solidFill>
                <a:srgbClr val="1B1F3B"/>
              </a:solidFill>
              <a:ea typeface="Noto Sans TC" pitchFamily="34" charset="-122"/>
              <a:cs typeface="Arial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B4BD3E7-5061-F94C-8D53-0F34587A6A97}"/>
              </a:ext>
            </a:extLst>
          </p:cNvPr>
          <p:cNvSpPr txBox="1"/>
          <p:nvPr/>
        </p:nvSpPr>
        <p:spPr>
          <a:xfrm>
            <a:off x="5072062" y="1698198"/>
            <a:ext cx="5842000" cy="40011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b="0" dirty="0"/>
              <a:t>初始化 </a:t>
            </a:r>
            <a:r>
              <a:rPr lang="en" altLang="zh-TW" b="0" dirty="0"/>
              <a:t>repo</a:t>
            </a:r>
            <a:r>
              <a:rPr lang="zh-TW" altLang="en" b="0" dirty="0"/>
              <a:t>、</a:t>
            </a:r>
            <a:r>
              <a:rPr lang="en" altLang="zh-TW" b="0" dirty="0"/>
              <a:t>clone </a:t>
            </a:r>
            <a:r>
              <a:rPr lang="zh-TW" altLang="en-US" b="0" dirty="0"/>
              <a:t>到本機、設定 </a:t>
            </a:r>
            <a:r>
              <a:rPr lang="en" altLang="zh-TW" b="0" dirty="0"/>
              <a:t>Python </a:t>
            </a:r>
            <a:r>
              <a:rPr lang="zh-TW" altLang="en-US" b="0" dirty="0"/>
              <a:t>環境</a:t>
            </a: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13CC6159-80EF-8341-AF35-95C3EE958E1B}"/>
              </a:ext>
            </a:extLst>
          </p:cNvPr>
          <p:cNvSpPr/>
          <p:nvPr/>
        </p:nvSpPr>
        <p:spPr>
          <a:xfrm>
            <a:off x="1631962" y="2469753"/>
            <a:ext cx="508000" cy="508000"/>
          </a:xfrm>
          <a:prstGeom prst="ellipse">
            <a:avLst/>
          </a:prstGeom>
          <a:solidFill>
            <a:srgbClr val="1D3F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sz="18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zh-TW" altLang="en-US" sz="18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507D380-6699-064B-B940-2E3D7992FF74}"/>
              </a:ext>
            </a:extLst>
          </p:cNvPr>
          <p:cNvSpPr txBox="1"/>
          <p:nvPr/>
        </p:nvSpPr>
        <p:spPr>
          <a:xfrm>
            <a:off x="2393962" y="2507853"/>
            <a:ext cx="2706688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dirty="0"/>
              <a:t>專案版本管理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DFCC04C-0D14-CC43-B626-E95AF1A996E6}"/>
              </a:ext>
            </a:extLst>
          </p:cNvPr>
          <p:cNvSpPr txBox="1"/>
          <p:nvPr/>
        </p:nvSpPr>
        <p:spPr>
          <a:xfrm>
            <a:off x="5072062" y="2545953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b="0" dirty="0"/>
              <a:t>建立分支、修改程式碼、推送 </a:t>
            </a:r>
            <a:r>
              <a:rPr lang="en" altLang="zh-TW" b="0" dirty="0"/>
              <a:t>Commit</a:t>
            </a:r>
            <a:endParaRPr lang="zh-TW" altLang="en-US" b="0" dirty="0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27D44322-4074-5946-ACDF-ABD9DB065022}"/>
              </a:ext>
            </a:extLst>
          </p:cNvPr>
          <p:cNvSpPr/>
          <p:nvPr/>
        </p:nvSpPr>
        <p:spPr>
          <a:xfrm>
            <a:off x="1631962" y="3307953"/>
            <a:ext cx="508000" cy="508000"/>
          </a:xfrm>
          <a:prstGeom prst="ellipse">
            <a:avLst/>
          </a:prstGeom>
          <a:solidFill>
            <a:srgbClr val="1D3F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sz="18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zh-TW" altLang="en-US" sz="18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E634708-E209-5F49-81F0-ABE9EAEBEB3E}"/>
              </a:ext>
            </a:extLst>
          </p:cNvPr>
          <p:cNvSpPr txBox="1"/>
          <p:nvPr/>
        </p:nvSpPr>
        <p:spPr>
          <a:xfrm>
            <a:off x="2393962" y="3346053"/>
            <a:ext cx="2706688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dirty="0"/>
              <a:t>新增任務防重複機制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79C9DB13-F787-5449-980D-5AEB160C9FD1}"/>
              </a:ext>
            </a:extLst>
          </p:cNvPr>
          <p:cNvSpPr txBox="1"/>
          <p:nvPr/>
        </p:nvSpPr>
        <p:spPr>
          <a:xfrm>
            <a:off x="5072062" y="3384153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b="0" dirty="0"/>
              <a:t>驗證變更、推送並準備 </a:t>
            </a:r>
            <a:r>
              <a:rPr lang="en" altLang="zh-TW" b="0" dirty="0"/>
              <a:t>Pull Request</a:t>
            </a:r>
            <a:endParaRPr lang="zh-TW" altLang="en-US" b="0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0662ADA0-A6CD-464C-8933-BF95FB78E90E}"/>
              </a:ext>
            </a:extLst>
          </p:cNvPr>
          <p:cNvSpPr/>
          <p:nvPr/>
        </p:nvSpPr>
        <p:spPr>
          <a:xfrm>
            <a:off x="1631962" y="4146153"/>
            <a:ext cx="508000" cy="508000"/>
          </a:xfrm>
          <a:prstGeom prst="ellipse">
            <a:avLst/>
          </a:prstGeom>
          <a:solidFill>
            <a:srgbClr val="1D3F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sz="18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zh-TW" altLang="en-US" sz="18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6155934-3CB9-084E-B7BC-FAAFC912681F}"/>
              </a:ext>
            </a:extLst>
          </p:cNvPr>
          <p:cNvSpPr txBox="1"/>
          <p:nvPr/>
        </p:nvSpPr>
        <p:spPr>
          <a:xfrm>
            <a:off x="2393962" y="4200098"/>
            <a:ext cx="2706688" cy="40011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en" altLang="zh-TW" dirty="0"/>
              <a:t>PR </a:t>
            </a:r>
            <a:r>
              <a:rPr lang="zh-TW" altLang="en-US" dirty="0"/>
              <a:t>合併與同步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903E75E-58E7-5F4B-BB3C-2D111B755819}"/>
              </a:ext>
            </a:extLst>
          </p:cNvPr>
          <p:cNvSpPr txBox="1"/>
          <p:nvPr/>
        </p:nvSpPr>
        <p:spPr>
          <a:xfrm>
            <a:off x="5072062" y="4222353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b="0" dirty="0"/>
              <a:t>審查、合併 </a:t>
            </a:r>
            <a:r>
              <a:rPr lang="en" altLang="zh-TW" b="0" dirty="0"/>
              <a:t>PR</a:t>
            </a:r>
            <a:r>
              <a:rPr lang="zh-TW" altLang="en" b="0" dirty="0"/>
              <a:t>，</a:t>
            </a:r>
            <a:r>
              <a:rPr lang="zh-TW" altLang="en-US" b="0" dirty="0"/>
              <a:t>同步最新進度</a:t>
            </a: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55B7286E-209C-7C4F-94E0-96DB8BC12013}"/>
              </a:ext>
            </a:extLst>
          </p:cNvPr>
          <p:cNvSpPr/>
          <p:nvPr/>
        </p:nvSpPr>
        <p:spPr>
          <a:xfrm>
            <a:off x="1631962" y="4984353"/>
            <a:ext cx="508000" cy="508000"/>
          </a:xfrm>
          <a:prstGeom prst="ellipse">
            <a:avLst/>
          </a:prstGeom>
          <a:solidFill>
            <a:srgbClr val="1D3F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sz="18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zh-TW" altLang="en-US" sz="18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35A6486-01E2-3241-BD95-325B19ABB734}"/>
              </a:ext>
            </a:extLst>
          </p:cNvPr>
          <p:cNvSpPr txBox="1"/>
          <p:nvPr/>
        </p:nvSpPr>
        <p:spPr>
          <a:xfrm>
            <a:off x="2393962" y="5022453"/>
            <a:ext cx="2706688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dirty="0"/>
              <a:t>刪除任務功能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FAA150A-A88C-7744-AFF9-FA018CE5DC69}"/>
              </a:ext>
            </a:extLst>
          </p:cNvPr>
          <p:cNvSpPr txBox="1"/>
          <p:nvPr/>
        </p:nvSpPr>
        <p:spPr>
          <a:xfrm>
            <a:off x="5072062" y="5060553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b="0"/>
              <a:t>開發刪除任務、產生分支衝突</a:t>
            </a: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C4319AE9-5802-6546-BB96-40CC5C69244F}"/>
              </a:ext>
            </a:extLst>
          </p:cNvPr>
          <p:cNvSpPr/>
          <p:nvPr/>
        </p:nvSpPr>
        <p:spPr>
          <a:xfrm>
            <a:off x="1631962" y="5822553"/>
            <a:ext cx="508000" cy="508000"/>
          </a:xfrm>
          <a:prstGeom prst="ellipse">
            <a:avLst/>
          </a:prstGeom>
          <a:solidFill>
            <a:srgbClr val="1D3F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sz="18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lang="zh-TW" altLang="en-US" sz="18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62DF31CE-E877-4748-AD71-186EDE5D51CE}"/>
              </a:ext>
            </a:extLst>
          </p:cNvPr>
          <p:cNvSpPr txBox="1"/>
          <p:nvPr/>
        </p:nvSpPr>
        <p:spPr>
          <a:xfrm>
            <a:off x="2393962" y="5860653"/>
            <a:ext cx="2706688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dirty="0"/>
              <a:t>解決 </a:t>
            </a:r>
            <a:r>
              <a:rPr lang="en" altLang="zh-TW" dirty="0"/>
              <a:t>Merge Conflict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E4034B7-89AF-804F-8522-F40FEF8F7AD1}"/>
              </a:ext>
            </a:extLst>
          </p:cNvPr>
          <p:cNvSpPr txBox="1"/>
          <p:nvPr/>
        </p:nvSpPr>
        <p:spPr>
          <a:xfrm>
            <a:off x="5072062" y="5898753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b="0" dirty="0"/>
              <a:t>排解衝突、完成合併</a:t>
            </a:r>
          </a:p>
        </p:txBody>
      </p:sp>
    </p:spTree>
    <p:extLst>
      <p:ext uri="{BB962C8B-B14F-4D97-AF65-F5344CB8AC3E}">
        <p14:creationId xmlns:p14="http://schemas.microsoft.com/office/powerpoint/2010/main" val="1338092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PHASE 1</a:t>
            </a:r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·</a:t>
            </a: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建立專案環境</a:t>
            </a:r>
            <a:endParaRPr lang="en-US" sz="3400" b="1" dirty="0">
              <a:solidFill>
                <a:srgbClr val="1B1F3B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在正式開發前，先完成三個準備步驟：建立個人 Repository、Clone 到本機、並用 uv 初始化 Python 環境。</a:t>
            </a:r>
          </a:p>
        </p:txBody>
      </p:sp>
      <p:sp>
        <p:nvSpPr>
          <p:cNvPr id="200" name="Card BG 200"/>
          <p:cNvSpPr/>
          <p:nvPr/>
        </p:nvSpPr>
        <p:spPr>
          <a:xfrm>
            <a:off x="546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Card Icon 201"/>
          <p:cNvSpPr/>
          <p:nvPr/>
        </p:nvSpPr>
        <p:spPr>
          <a:xfrm>
            <a:off x="850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Card Num 202"/>
          <p:cNvSpPr txBox="1"/>
          <p:nvPr/>
        </p:nvSpPr>
        <p:spPr>
          <a:xfrm>
            <a:off x="850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①</a:t>
            </a:r>
            <a:endParaRPr lang="en-US" sz="2200" b="1" dirty="0">
              <a:solidFill>
                <a:srgbClr val="FFFFFF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sp>
        <p:nvSpPr>
          <p:cNvPr id="203" name="Card Title 203"/>
          <p:cNvSpPr txBox="1"/>
          <p:nvPr/>
        </p:nvSpPr>
        <p:spPr>
          <a:xfrm>
            <a:off x="850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建立個人 Repository</a:t>
            </a:r>
          </a:p>
        </p:txBody>
      </p:sp>
      <p:sp>
        <p:nvSpPr>
          <p:cNvPr id="204" name="Card Desc 204"/>
          <p:cNvSpPr txBox="1"/>
          <p:nvPr/>
        </p:nvSpPr>
        <p:spPr>
          <a:xfrm>
            <a:off x="850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從 Template 建立並推送到 GitHub</a:t>
            </a:r>
          </a:p>
        </p:txBody>
      </p:sp>
      <p:sp>
        <p:nvSpPr>
          <p:cNvPr id="210" name="Card BG 210"/>
          <p:cNvSpPr/>
          <p:nvPr/>
        </p:nvSpPr>
        <p:spPr>
          <a:xfrm>
            <a:off x="4229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Card Icon 211"/>
          <p:cNvSpPr/>
          <p:nvPr/>
        </p:nvSpPr>
        <p:spPr>
          <a:xfrm>
            <a:off x="4533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2" name="Card Num 212"/>
          <p:cNvSpPr txBox="1"/>
          <p:nvPr/>
        </p:nvSpPr>
        <p:spPr>
          <a:xfrm>
            <a:off x="4533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②</a:t>
            </a:r>
          </a:p>
        </p:txBody>
      </p:sp>
      <p:sp>
        <p:nvSpPr>
          <p:cNvPr id="213" name="Card Title 213"/>
          <p:cNvSpPr txBox="1"/>
          <p:nvPr/>
        </p:nvSpPr>
        <p:spPr>
          <a:xfrm>
            <a:off x="4533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Git Clone 到本機</a:t>
            </a:r>
          </a:p>
        </p:txBody>
      </p:sp>
      <p:sp>
        <p:nvSpPr>
          <p:cNvPr id="214" name="Card Desc 214"/>
          <p:cNvSpPr txBox="1"/>
          <p:nvPr/>
        </p:nvSpPr>
        <p:spPr>
          <a:xfrm>
            <a:off x="4533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取得專案原始碼</a:t>
            </a:r>
          </a:p>
        </p:txBody>
      </p:sp>
      <p:sp>
        <p:nvSpPr>
          <p:cNvPr id="220" name="Card BG 220"/>
          <p:cNvSpPr/>
          <p:nvPr/>
        </p:nvSpPr>
        <p:spPr>
          <a:xfrm>
            <a:off x="7912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1" name="Card Icon 221"/>
          <p:cNvSpPr/>
          <p:nvPr/>
        </p:nvSpPr>
        <p:spPr>
          <a:xfrm>
            <a:off x="8216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2" name="Card Num 222"/>
          <p:cNvSpPr txBox="1"/>
          <p:nvPr/>
        </p:nvSpPr>
        <p:spPr>
          <a:xfrm>
            <a:off x="8216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③</a:t>
            </a:r>
          </a:p>
        </p:txBody>
      </p:sp>
      <p:sp>
        <p:nvSpPr>
          <p:cNvPr id="223" name="Card Title 223"/>
          <p:cNvSpPr txBox="1"/>
          <p:nvPr/>
        </p:nvSpPr>
        <p:spPr>
          <a:xfrm>
            <a:off x="8216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uv 初始化開發環境</a:t>
            </a:r>
          </a:p>
        </p:txBody>
      </p:sp>
      <p:sp>
        <p:nvSpPr>
          <p:cNvPr id="224" name="Card Desc 224"/>
          <p:cNvSpPr txBox="1"/>
          <p:nvPr/>
        </p:nvSpPr>
        <p:spPr>
          <a:xfrm>
            <a:off x="8216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建立虛擬環境並安裝相依套件</a:t>
            </a:r>
          </a:p>
        </p:txBody>
      </p:sp>
    </p:spTree>
    <p:extLst>
      <p:ext uri="{BB962C8B-B14F-4D97-AF65-F5344CB8AC3E}">
        <p14:creationId xmlns:p14="http://schemas.microsoft.com/office/powerpoint/2010/main" val="2274542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3B3C0-4E26-F6ED-45F2-5C2AA8D5D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A36FEF-523B-278E-23B7-A1BCB1B502DB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1 · 建立專案環境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5E07C9-12EA-6FD5-45CB-71FD112B4CB7}"/>
              </a:ext>
            </a:extLst>
          </p:cNvPr>
          <p:cNvSpPr txBox="1"/>
          <p:nvPr/>
        </p:nvSpPr>
        <p:spPr>
          <a:xfrm>
            <a:off x="1159199" y="985350"/>
            <a:ext cx="6986317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從</a:t>
            </a: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Template </a:t>
            </a: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創建個人</a:t>
            </a:r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Repository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C8CC7A4-A39D-7E56-D757-B6CAACF7A7F2}"/>
              </a:ext>
            </a:extLst>
          </p:cNvPr>
          <p:cNvSpPr/>
          <p:nvPr/>
        </p:nvSpPr>
        <p:spPr>
          <a:xfrm>
            <a:off x="546100" y="100637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94559B-2E62-B765-7AF4-ED597F4DAB39}"/>
              </a:ext>
            </a:extLst>
          </p:cNvPr>
          <p:cNvSpPr txBox="1"/>
          <p:nvPr/>
        </p:nvSpPr>
        <p:spPr>
          <a:xfrm>
            <a:off x="546100" y="985350"/>
            <a:ext cx="508000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1</a:t>
            </a:r>
            <a:endParaRPr lang="en-US" sz="2150" dirty="0">
              <a:latin typeface="Arial"/>
              <a:cs typeface="Arial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2864EA1-3CD5-C4D6-4D28-FC282C4002FC}"/>
              </a:ext>
            </a:extLst>
          </p:cNvPr>
          <p:cNvSpPr txBox="1"/>
          <p:nvPr/>
        </p:nvSpPr>
        <p:spPr>
          <a:xfrm>
            <a:off x="546100" y="1904833"/>
            <a:ext cx="3742121" cy="2026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登入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GitHub 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後，</a:t>
            </a: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進入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  <a:hlinkClick r:id="rId3"/>
              </a:rPr>
              <a:t>Exercise 1 template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點擊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Use this template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點擊</a:t>
            </a: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Create a new repository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3E10FAE1-E0E8-1BD5-F83A-1A6670AD0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221" y="1904833"/>
            <a:ext cx="7309114" cy="419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050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BE519-9CCA-DC9C-AE36-1D7CC165F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B00F14AF-A19E-55D3-BA64-8CC9538C8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221" y="1904833"/>
            <a:ext cx="7300372" cy="4194577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AEC7439A-E906-CAF8-4C5A-5E7B1276DF90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1 · 建立專案環境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6FDED4D-B597-579F-AE2F-08E6E03D6D87}"/>
              </a:ext>
            </a:extLst>
          </p:cNvPr>
          <p:cNvSpPr txBox="1"/>
          <p:nvPr/>
        </p:nvSpPr>
        <p:spPr>
          <a:xfrm>
            <a:off x="1159199" y="985350"/>
            <a:ext cx="6986317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從</a:t>
            </a: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Template </a:t>
            </a: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創建個人</a:t>
            </a:r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Repository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38E538C-B876-F9C1-2C2E-0CC711BFC51E}"/>
              </a:ext>
            </a:extLst>
          </p:cNvPr>
          <p:cNvSpPr/>
          <p:nvPr/>
        </p:nvSpPr>
        <p:spPr>
          <a:xfrm>
            <a:off x="546100" y="100637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73BB8CF-E3AE-1D51-F4B9-F0A13A1DE9C4}"/>
              </a:ext>
            </a:extLst>
          </p:cNvPr>
          <p:cNvSpPr txBox="1"/>
          <p:nvPr/>
        </p:nvSpPr>
        <p:spPr>
          <a:xfrm>
            <a:off x="546100" y="985350"/>
            <a:ext cx="508000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1</a:t>
            </a:r>
            <a:endParaRPr lang="en-US" sz="2150" dirty="0">
              <a:latin typeface="Arial"/>
              <a:cs typeface="Arial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FB6F10F-125F-B238-C082-0FD990ACF00B}"/>
              </a:ext>
            </a:extLst>
          </p:cNvPr>
          <p:cNvSpPr txBox="1"/>
          <p:nvPr/>
        </p:nvSpPr>
        <p:spPr>
          <a:xfrm>
            <a:off x="546100" y="1904833"/>
            <a:ext cx="3742121" cy="1524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輸入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repo 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名稱</a:t>
            </a:r>
            <a:endParaRPr lang="en-US" altLang="zh-TW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Visability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選擇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public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點擊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create repository</a:t>
            </a:r>
          </a:p>
        </p:txBody>
      </p:sp>
    </p:spTree>
    <p:extLst>
      <p:ext uri="{BB962C8B-B14F-4D97-AF65-F5344CB8AC3E}">
        <p14:creationId xmlns:p14="http://schemas.microsoft.com/office/powerpoint/2010/main" val="2472548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A0168-A2CF-6769-951D-0BBFEFA13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41720DF-6FDD-5CA7-027C-34DF80C83319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1 · 建立專案環境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317F31-A64E-6590-04F8-C5CDD68783CF}"/>
              </a:ext>
            </a:extLst>
          </p:cNvPr>
          <p:cNvSpPr txBox="1"/>
          <p:nvPr/>
        </p:nvSpPr>
        <p:spPr>
          <a:xfrm>
            <a:off x="1155699" y="990600"/>
            <a:ext cx="803184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Git Clone Exercise 1 Repository </a:t>
            </a: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到本機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DA0ACCA-B287-97AA-678D-AF41EFDB9849}"/>
              </a:ext>
            </a:extLst>
          </p:cNvPr>
          <p:cNvSpPr/>
          <p:nvPr/>
        </p:nvSpPr>
        <p:spPr>
          <a:xfrm>
            <a:off x="546100" y="100330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157CE9D-37D4-EE5A-716E-85C3DC59420B}"/>
              </a:ext>
            </a:extLst>
          </p:cNvPr>
          <p:cNvSpPr txBox="1"/>
          <p:nvPr/>
        </p:nvSpPr>
        <p:spPr>
          <a:xfrm>
            <a:off x="546100" y="10033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2</a:t>
            </a:r>
            <a:endParaRPr lang="en-US" sz="2150" dirty="0">
              <a:latin typeface="Arial"/>
              <a:cs typeface="Arial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B89EB6F-826B-166F-62C2-6ED1D061C5A7}"/>
              </a:ext>
            </a:extLst>
          </p:cNvPr>
          <p:cNvSpPr txBox="1"/>
          <p:nvPr/>
        </p:nvSpPr>
        <p:spPr>
          <a:xfrm>
            <a:off x="546100" y="1904998"/>
            <a:ext cx="3746500" cy="295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Repo </a:t>
            </a: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網址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進入剛創建的個人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exercise 1 repo 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頁面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點擊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Code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看到</a:t>
            </a: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HTTPS </a:t>
            </a: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下方網址，點右側複製按鈕複製網址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86AD7AA5-AD3F-0FD5-35EE-BB02A03A5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600" y="1904999"/>
            <a:ext cx="7205717" cy="4140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585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1 · 建立專案環境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155699" y="990600"/>
            <a:ext cx="810804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Git Clone Exercise 1 Repository </a:t>
            </a:r>
            <a:r>
              <a:rPr lang="en-US" altLang="zh-TW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到本機</a:t>
            </a:r>
            <a:endParaRPr lang="en-US" altLang="zh-TW" sz="3400" dirty="0">
              <a:latin typeface="Arial"/>
              <a:cs typeface="Arial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6100" y="100330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546100" y="10033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2</a:t>
            </a:r>
            <a:endParaRPr lang="en-US" sz="2150" dirty="0">
              <a:latin typeface="Arial"/>
              <a:cs typeface="Arial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46099" y="1904999"/>
            <a:ext cx="5549901" cy="376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VS Code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：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Cmd</a:t>
            </a: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/</a:t>
            </a: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Ctrl+Shift+P</a:t>
            </a: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輸入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Git: Clone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並點擊</a:t>
            </a:r>
            <a:endParaRPr lang="en-US" altLang="zh-TW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貼上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exercise 1 repo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網址或是點擊下方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從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GitHub 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複製然後選擇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exercise 1 repo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終端機</a:t>
            </a: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：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cd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&lt;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自己的程式資料夾路徑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&gt;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clone &lt;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exercise 1 </a:t>
            </a: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repo </a:t>
            </a: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網址</a:t>
            </a: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&gt;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用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VSCode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打開該資料夾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9C6BF23-BBA8-619E-D475-D244DA64E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04998"/>
            <a:ext cx="4912674" cy="239373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8D98A91-CD1C-FB0F-23A0-FA5B32054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409491"/>
            <a:ext cx="4918540" cy="709046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1F73D993-56D8-637B-07EE-BC5549772B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5229299"/>
            <a:ext cx="4912674" cy="849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67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1 · 建立專案環境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155700" y="990600"/>
            <a:ext cx="6985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latin typeface="Arial"/>
                <a:cs typeface="Arial"/>
              </a:rPr>
              <a:t>uv</a:t>
            </a:r>
            <a:r>
              <a:rPr lang="en-US" sz="3400" b="1" dirty="0">
                <a:latin typeface="Arial"/>
                <a:cs typeface="Arial"/>
              </a:rPr>
              <a:t> </a:t>
            </a:r>
            <a:r>
              <a:rPr lang="en-US" sz="3400" b="1" dirty="0" err="1">
                <a:latin typeface="Arial"/>
                <a:cs typeface="Arial"/>
              </a:rPr>
              <a:t>初始化專案</a:t>
            </a:r>
            <a:r>
              <a:rPr lang="zh-TW" altLang="en-US" sz="3400" b="1" dirty="0">
                <a:latin typeface="Arial"/>
                <a:cs typeface="Arial"/>
              </a:rPr>
              <a:t> </a:t>
            </a:r>
            <a:r>
              <a:rPr lang="en-US" altLang="zh-TW" sz="3400" b="1" dirty="0">
                <a:latin typeface="Arial"/>
                <a:cs typeface="Arial"/>
              </a:rPr>
              <a:t>python </a:t>
            </a:r>
            <a:r>
              <a:rPr lang="en-US" sz="3400" b="1" dirty="0" err="1">
                <a:latin typeface="Arial"/>
                <a:cs typeface="Arial"/>
              </a:rPr>
              <a:t>環境</a:t>
            </a:r>
            <a:endParaRPr lang="en-US" sz="3400" b="1" dirty="0">
              <a:latin typeface="Arial"/>
              <a:cs typeface="Arial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6100" y="100330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546100" y="10033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3</a:t>
            </a:r>
            <a:endParaRPr lang="en-US" sz="2150" dirty="0">
              <a:latin typeface="Arial"/>
              <a:cs typeface="Arial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546099" y="1905000"/>
            <a:ext cx="4194067" cy="2992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打開終端機執行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uv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init</a:t>
            </a:r>
            <a:endParaRPr lang="en-US" altLang="zh-TW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檢查是否成功創建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pyproject.toml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, python-version, </a:t>
            </a: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src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等等檔案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終端機執行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uv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run </a:t>
            </a: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todo.py</a:t>
            </a:r>
            <a:endParaRPr lang="en-US" altLang="zh-TW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檢查是否成功創建</a:t>
            </a: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.</a:t>
            </a: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venv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環境資料並確認執行成果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0E14EC0E-0E39-57E7-CC18-FC81550BA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165" y="1905000"/>
            <a:ext cx="6905736" cy="4345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250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PHASE 2</a:t>
            </a:r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·</a:t>
            </a: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專案版本管理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在 main </a:t>
            </a:r>
            <a:r>
              <a:rPr lang="en-US" sz="24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分支上做提交第一個</a:t>
            </a:r>
            <a:r>
              <a:rPr lang="en-US" sz="24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24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commit，並推送至</a:t>
            </a:r>
            <a:r>
              <a:rPr lang="en-US" sz="24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GitHub。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67512" y="3727328"/>
            <a:ext cx="745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main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463040" y="3891920"/>
            <a:ext cx="8961120" cy="0"/>
          </a:xfrm>
          <a:prstGeom prst="line">
            <a:avLst/>
          </a:prstGeom>
          <a:noFill/>
          <a:ln w="31750">
            <a:solidFill>
              <a:srgbClr val="1B1F3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417320" y="3837056"/>
            <a:ext cx="109728" cy="109728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3566160" y="3827912"/>
            <a:ext cx="128016" cy="128016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1143000" y="4013200"/>
            <a:ext cx="2349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init: exercise 1</a:t>
            </a:r>
            <a:endParaRPr lang="en-US" sz="18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project environment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30168" y="3891920"/>
            <a:ext cx="2743200" cy="0"/>
          </a:xfrm>
          <a:prstGeom prst="line">
            <a:avLst/>
          </a:prstGeom>
          <a:noFill/>
          <a:ln w="25400">
            <a:solidFill>
              <a:srgbClr val="5C6B85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Connector DeleteTask"/>
          <p:cNvSpPr/>
          <p:nvPr/>
        </p:nvSpPr>
        <p:spPr>
          <a:xfrm flipV="1">
            <a:off x="3630168" y="3027812"/>
            <a:ext cx="2738628" cy="864108"/>
          </a:xfrm>
          <a:prstGeom prst="line">
            <a:avLst/>
          </a:prstGeom>
          <a:noFill/>
          <a:ln w="25400">
            <a:solidFill>
              <a:srgbClr val="5C6B85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309360" y="2968376"/>
            <a:ext cx="118872" cy="118872"/>
          </a:xfrm>
          <a:prstGeom prst="ellipse">
            <a:avLst/>
          </a:prstGeom>
          <a:solidFill>
            <a:srgbClr val="5C6B8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6537960" y="284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feature/delete-task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537959" y="3200400"/>
            <a:ext cx="330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先開好，晚點 Feature 2 才會用到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630168" y="3891920"/>
            <a:ext cx="2743200" cy="868680"/>
          </a:xfrm>
          <a:prstGeom prst="line">
            <a:avLst/>
          </a:prstGeom>
          <a:noFill/>
          <a:ln w="25400">
            <a:solidFill>
              <a:srgbClr val="2E6FF2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6309360" y="4705736"/>
            <a:ext cx="118872" cy="118872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6537960" y="4605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feature/add-task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537959" y="4965700"/>
            <a:ext cx="330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接下來要開始開發 Feature 1</a:t>
            </a:r>
            <a:endParaRPr lang="en-US"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1447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3B3C0-4E26-F6ED-45F2-5C2AA8D5D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A36FEF-523B-278E-23B7-A1BCB1B502DB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2 · 專案版本管理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5E07C9-12EA-6FD5-45CB-71FD112B4CB7}"/>
              </a:ext>
            </a:extLst>
          </p:cNvPr>
          <p:cNvSpPr txBox="1"/>
          <p:nvPr/>
        </p:nvSpPr>
        <p:spPr>
          <a:xfrm>
            <a:off x="1159199" y="985350"/>
            <a:ext cx="6986317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推送第一支</a:t>
            </a:r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Commit</a:t>
            </a:r>
            <a:endParaRPr lang="en-US" sz="3400" b="1" dirty="0">
              <a:solidFill>
                <a:srgbClr val="1B1F3B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C8CC7A4-A39D-7E56-D757-B6CAACF7A7F2}"/>
              </a:ext>
            </a:extLst>
          </p:cNvPr>
          <p:cNvSpPr/>
          <p:nvPr/>
        </p:nvSpPr>
        <p:spPr>
          <a:xfrm>
            <a:off x="546100" y="100637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94559B-2E62-B765-7AF4-ED597F4DAB39}"/>
              </a:ext>
            </a:extLst>
          </p:cNvPr>
          <p:cNvSpPr txBox="1"/>
          <p:nvPr/>
        </p:nvSpPr>
        <p:spPr>
          <a:xfrm>
            <a:off x="546100" y="985350"/>
            <a:ext cx="508000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1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2864EA1-3CD5-C4D6-4D28-FC282C4002FC}"/>
              </a:ext>
            </a:extLst>
          </p:cNvPr>
          <p:cNvSpPr txBox="1"/>
          <p:nvPr/>
        </p:nvSpPr>
        <p:spPr>
          <a:xfrm>
            <a:off x="546100" y="1904833"/>
            <a:ext cx="4835197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VS Code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altLang="zh-TW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點擊</a:t>
            </a:r>
            <a:r>
              <a:rPr lang="en-US" sz="18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版本控制面板變更旁的＋暫存所有檔案變更</a:t>
            </a:r>
            <a:endParaRPr lang="en-US" sz="18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sz="18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輸入</a:t>
            </a: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commit </a:t>
            </a:r>
            <a:r>
              <a:rPr lang="en-US" sz="18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訊息並打勾提交暫存變更</a:t>
            </a:r>
            <a:endParaRPr lang="en-US" sz="18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sz="18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點選同步變更推送至</a:t>
            </a: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GitHub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終端機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add .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commit -m "init: exercise 1 project environment"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push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304D9F9-B10D-360E-196E-040393B1C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521" y="4283914"/>
            <a:ext cx="4025900" cy="14224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FC93362-35B2-E400-713B-05A706857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5147" y="1904833"/>
            <a:ext cx="2702686" cy="212043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6510CE01-8A02-F2D5-F849-5477E891F0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1297" y="1904661"/>
            <a:ext cx="2999174" cy="212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093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3B3C0-4E26-F6ED-45F2-5C2AA8D5D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A36FEF-523B-278E-23B7-A1BCB1B502DB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2 · 專案版本管理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5E07C9-12EA-6FD5-45CB-71FD112B4CB7}"/>
              </a:ext>
            </a:extLst>
          </p:cNvPr>
          <p:cNvSpPr txBox="1"/>
          <p:nvPr/>
        </p:nvSpPr>
        <p:spPr>
          <a:xfrm>
            <a:off x="1159199" y="985350"/>
            <a:ext cx="6986317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建立</a:t>
            </a: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feature/delete-task 分支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C8CC7A4-A39D-7E56-D757-B6CAACF7A7F2}"/>
              </a:ext>
            </a:extLst>
          </p:cNvPr>
          <p:cNvSpPr/>
          <p:nvPr/>
        </p:nvSpPr>
        <p:spPr>
          <a:xfrm>
            <a:off x="546100" y="100637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94559B-2E62-B765-7AF4-ED597F4DAB39}"/>
              </a:ext>
            </a:extLst>
          </p:cNvPr>
          <p:cNvSpPr txBox="1"/>
          <p:nvPr/>
        </p:nvSpPr>
        <p:spPr>
          <a:xfrm>
            <a:off x="546100" y="985350"/>
            <a:ext cx="508000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2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2864EA1-3CD5-C4D6-4D28-FC282C4002FC}"/>
              </a:ext>
            </a:extLst>
          </p:cNvPr>
          <p:cNvSpPr txBox="1"/>
          <p:nvPr/>
        </p:nvSpPr>
        <p:spPr>
          <a:xfrm>
            <a:off x="546100" y="1904833"/>
            <a:ext cx="4341210" cy="436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VS Code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點左下角目前分支名稱</a:t>
            </a:r>
            <a:r>
              <a:rPr lang="zh-TW" alt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(main)</a:t>
            </a:r>
            <a:endParaRPr lang="en-US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點選建立新分支</a:t>
            </a:r>
            <a:endParaRPr lang="en-US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輸入 feature/delete-task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終端機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checkout -b feature/delete-task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4A815A7-C390-7FC1-BAA1-89C573408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310" y="2545760"/>
            <a:ext cx="6758589" cy="222911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8A1C05C-D9E3-5BBF-53CC-C12DC8A93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7310" y="4996699"/>
            <a:ext cx="6758590" cy="774739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DE0B8137-9783-DDEB-653D-7F732C9B8A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7310" y="1904833"/>
            <a:ext cx="28321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997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3B3C0-4E26-F6ED-45F2-5C2AA8D5D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A36FEF-523B-278E-23B7-A1BCB1B502DB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2 · 專案版本管理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5E07C9-12EA-6FD5-45CB-71FD112B4CB7}"/>
              </a:ext>
            </a:extLst>
          </p:cNvPr>
          <p:cNvSpPr txBox="1"/>
          <p:nvPr/>
        </p:nvSpPr>
        <p:spPr>
          <a:xfrm>
            <a:off x="1159199" y="985350"/>
            <a:ext cx="6986317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建立</a:t>
            </a:r>
            <a:r>
              <a:rPr lang="en-US" altLang="zh-TW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feature/add-task </a:t>
            </a:r>
            <a:r>
              <a:rPr lang="en-US" altLang="zh-TW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分支</a:t>
            </a:r>
            <a:endParaRPr lang="en-US" altLang="zh-TW" sz="3400" b="1" dirty="0">
              <a:solidFill>
                <a:srgbClr val="1B1F3B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C8CC7A4-A39D-7E56-D757-B6CAACF7A7F2}"/>
              </a:ext>
            </a:extLst>
          </p:cNvPr>
          <p:cNvSpPr/>
          <p:nvPr/>
        </p:nvSpPr>
        <p:spPr>
          <a:xfrm>
            <a:off x="546100" y="100637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94559B-2E62-B765-7AF4-ED597F4DAB39}"/>
              </a:ext>
            </a:extLst>
          </p:cNvPr>
          <p:cNvSpPr txBox="1"/>
          <p:nvPr/>
        </p:nvSpPr>
        <p:spPr>
          <a:xfrm>
            <a:off x="546100" y="985350"/>
            <a:ext cx="508000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3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2864EA1-3CD5-C4D6-4D28-FC282C4002FC}"/>
              </a:ext>
            </a:extLst>
          </p:cNvPr>
          <p:cNvSpPr txBox="1"/>
          <p:nvPr/>
        </p:nvSpPr>
        <p:spPr>
          <a:xfrm>
            <a:off x="546100" y="1904833"/>
            <a:ext cx="4091277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VS Code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點左下角分支名稱</a:t>
            </a: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(feature/delete-task)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點擊本地</a:t>
            </a: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main</a:t>
            </a:r>
            <a:r>
              <a:rPr lang="zh-TW" alt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分支切換過去</a:t>
            </a:r>
            <a:endParaRPr lang="en-US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重複上一步驟建立</a:t>
            </a:r>
            <a:r>
              <a:rPr lang="zh-TW" alt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feature/add-task</a:t>
            </a:r>
            <a:r>
              <a:rPr lang="zh-TW" alt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分支</a:t>
            </a:r>
            <a:endParaRPr lang="en-US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終端機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checkout main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checkout -b feature/add-task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8DC5F26-34D9-3FE7-53AA-A3265CDBE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357" y="1904833"/>
            <a:ext cx="2908300" cy="4318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0834745F-AA39-6B7C-8550-06394F4E9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357" y="2567655"/>
            <a:ext cx="6532807" cy="262100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46D35A1B-8A35-761D-2639-6762A0678A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7377" y="5419683"/>
            <a:ext cx="6532807" cy="67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054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PHASE 3</a:t>
            </a:r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·</a:t>
            </a: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新增任務防止重複機制</a:t>
            </a:r>
            <a:endParaRPr lang="en-US" sz="3400" b="1" dirty="0">
              <a:solidFill>
                <a:srgbClr val="1B1F3B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延續 feature/add-task 分支，強化 add_task </a:t>
            </a: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新增前的重複檢查，並更新展示畫面與驗證流程</a:t>
            </a: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。</a:t>
            </a:r>
          </a:p>
        </p:txBody>
      </p:sp>
      <p:sp>
        <p:nvSpPr>
          <p:cNvPr id="200" name="Card BG 200"/>
          <p:cNvSpPr/>
          <p:nvPr/>
        </p:nvSpPr>
        <p:spPr>
          <a:xfrm>
            <a:off x="546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Card Icon 201"/>
          <p:cNvSpPr/>
          <p:nvPr/>
        </p:nvSpPr>
        <p:spPr>
          <a:xfrm>
            <a:off x="850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Card Num 202"/>
          <p:cNvSpPr txBox="1"/>
          <p:nvPr/>
        </p:nvSpPr>
        <p:spPr>
          <a:xfrm>
            <a:off x="850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①</a:t>
            </a:r>
            <a:endParaRPr lang="en-US" sz="2200" b="1" dirty="0">
              <a:solidFill>
                <a:srgbClr val="FFFFFF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sp>
        <p:nvSpPr>
          <p:cNvPr id="203" name="Card Title 203"/>
          <p:cNvSpPr txBox="1"/>
          <p:nvPr/>
        </p:nvSpPr>
        <p:spPr>
          <a:xfrm>
            <a:off x="850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檢查任務是否重複</a:t>
            </a:r>
          </a:p>
        </p:txBody>
      </p:sp>
      <p:sp>
        <p:nvSpPr>
          <p:cNvPr id="204" name="Card Desc 204"/>
          <p:cNvSpPr txBox="1"/>
          <p:nvPr/>
        </p:nvSpPr>
        <p:spPr>
          <a:xfrm>
            <a:off x="850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add_task 新增前比對名稱，重複則略過新增</a:t>
            </a:r>
          </a:p>
        </p:txBody>
      </p:sp>
      <p:sp>
        <p:nvSpPr>
          <p:cNvPr id="210" name="Card BG 210"/>
          <p:cNvSpPr/>
          <p:nvPr/>
        </p:nvSpPr>
        <p:spPr>
          <a:xfrm>
            <a:off x="4229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Card Icon 211"/>
          <p:cNvSpPr/>
          <p:nvPr/>
        </p:nvSpPr>
        <p:spPr>
          <a:xfrm>
            <a:off x="4533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2" name="Card Num 212"/>
          <p:cNvSpPr txBox="1"/>
          <p:nvPr/>
        </p:nvSpPr>
        <p:spPr>
          <a:xfrm>
            <a:off x="4533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②</a:t>
            </a:r>
          </a:p>
        </p:txBody>
      </p:sp>
      <p:sp>
        <p:nvSpPr>
          <p:cNvPr id="213" name="Card Title 213"/>
          <p:cNvSpPr txBox="1"/>
          <p:nvPr/>
        </p:nvSpPr>
        <p:spPr>
          <a:xfrm>
            <a:off x="4533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同步更新展示邏輯</a:t>
            </a:r>
          </a:p>
        </p:txBody>
      </p:sp>
      <p:sp>
        <p:nvSpPr>
          <p:cNvPr id="214" name="Card Desc 214"/>
          <p:cNvSpPr txBox="1"/>
          <p:nvPr/>
        </p:nvSpPr>
        <p:spPr>
          <a:xfrm>
            <a:off x="4533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show_tasks() 顯示目前項目數，main() 加入重複測試</a:t>
            </a:r>
          </a:p>
        </p:txBody>
      </p:sp>
      <p:sp>
        <p:nvSpPr>
          <p:cNvPr id="220" name="Card BG 220"/>
          <p:cNvSpPr/>
          <p:nvPr/>
        </p:nvSpPr>
        <p:spPr>
          <a:xfrm>
            <a:off x="7912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1" name="Card Icon 221"/>
          <p:cNvSpPr/>
          <p:nvPr/>
        </p:nvSpPr>
        <p:spPr>
          <a:xfrm>
            <a:off x="8216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2" name="Card Num 222"/>
          <p:cNvSpPr txBox="1"/>
          <p:nvPr/>
        </p:nvSpPr>
        <p:spPr>
          <a:xfrm>
            <a:off x="8216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③</a:t>
            </a:r>
          </a:p>
        </p:txBody>
      </p:sp>
      <p:sp>
        <p:nvSpPr>
          <p:cNvPr id="223" name="Card Title 223"/>
          <p:cNvSpPr txBox="1"/>
          <p:nvPr/>
        </p:nvSpPr>
        <p:spPr>
          <a:xfrm>
            <a:off x="8216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驗證並推送 Commit</a:t>
            </a:r>
          </a:p>
        </p:txBody>
      </p:sp>
      <p:sp>
        <p:nvSpPr>
          <p:cNvPr id="224" name="Card Desc 224"/>
          <p:cNvSpPr txBox="1"/>
          <p:nvPr/>
        </p:nvSpPr>
        <p:spPr>
          <a:xfrm>
            <a:off x="8216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執行 uv run todo.py 確認輸出，再推送 commit</a:t>
            </a:r>
          </a:p>
        </p:txBody>
      </p:sp>
    </p:spTree>
    <p:extLst>
      <p:ext uri="{BB962C8B-B14F-4D97-AF65-F5344CB8AC3E}">
        <p14:creationId xmlns:p14="http://schemas.microsoft.com/office/powerpoint/2010/main" val="241357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3B3C0-4E26-F6ED-45F2-5C2AA8D5D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A36FEF-523B-278E-23B7-A1BCB1B502DB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3 · 新增任務防止重複機制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5E07C9-12EA-6FD5-45CB-71FD112B4CB7}"/>
              </a:ext>
            </a:extLst>
          </p:cNvPr>
          <p:cNvSpPr txBox="1"/>
          <p:nvPr/>
        </p:nvSpPr>
        <p:spPr>
          <a:xfrm>
            <a:off x="1159199" y="985350"/>
            <a:ext cx="8533441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修改</a:t>
            </a: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todo.py</a:t>
            </a: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防止任務重複加入</a:t>
            </a:r>
            <a:endParaRPr lang="en-US" sz="3400" b="1" dirty="0">
              <a:solidFill>
                <a:srgbClr val="1B1F3B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C8CC7A4-A39D-7E56-D757-B6CAACF7A7F2}"/>
              </a:ext>
            </a:extLst>
          </p:cNvPr>
          <p:cNvSpPr/>
          <p:nvPr/>
        </p:nvSpPr>
        <p:spPr>
          <a:xfrm>
            <a:off x="546100" y="100637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94559B-2E62-B765-7AF4-ED597F4DAB39}"/>
              </a:ext>
            </a:extLst>
          </p:cNvPr>
          <p:cNvSpPr txBox="1"/>
          <p:nvPr/>
        </p:nvSpPr>
        <p:spPr>
          <a:xfrm>
            <a:off x="546100" y="985350"/>
            <a:ext cx="508000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1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2864EA1-3CD5-C4D6-4D28-FC282C4002FC}"/>
              </a:ext>
            </a:extLst>
          </p:cNvPr>
          <p:cNvSpPr txBox="1"/>
          <p:nvPr/>
        </p:nvSpPr>
        <p:spPr>
          <a:xfrm>
            <a:off x="546100" y="1904833"/>
            <a:ext cx="487982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add_task()：新增重複檢查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show_tasks()：顯示項目數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main()：新增防重複 Demo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03CD35E-98EB-A2FD-1C25-C6181F72D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5919" y="1904833"/>
            <a:ext cx="5752661" cy="4480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111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3B3C0-4E26-F6ED-45F2-5C2AA8D5D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A36FEF-523B-278E-23B7-A1BCB1B502DB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3 · 新增任務防止重複機制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5E07C9-12EA-6FD5-45CB-71FD112B4CB7}"/>
              </a:ext>
            </a:extLst>
          </p:cNvPr>
          <p:cNvSpPr txBox="1"/>
          <p:nvPr/>
        </p:nvSpPr>
        <p:spPr>
          <a:xfrm>
            <a:off x="1159199" y="985350"/>
            <a:ext cx="6986317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執行驗證後，推送</a:t>
            </a:r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Commit</a:t>
            </a:r>
            <a:endParaRPr lang="en-US" sz="3400" b="1" dirty="0">
              <a:solidFill>
                <a:srgbClr val="1B1F3B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C8CC7A4-A39D-7E56-D757-B6CAACF7A7F2}"/>
              </a:ext>
            </a:extLst>
          </p:cNvPr>
          <p:cNvSpPr/>
          <p:nvPr/>
        </p:nvSpPr>
        <p:spPr>
          <a:xfrm>
            <a:off x="546100" y="100637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94559B-2E62-B765-7AF4-ED597F4DAB39}"/>
              </a:ext>
            </a:extLst>
          </p:cNvPr>
          <p:cNvSpPr txBox="1"/>
          <p:nvPr/>
        </p:nvSpPr>
        <p:spPr>
          <a:xfrm>
            <a:off x="546100" y="985350"/>
            <a:ext cx="508000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2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2864EA1-3CD5-C4D6-4D28-FC282C4002FC}"/>
              </a:ext>
            </a:extLst>
          </p:cNvPr>
          <p:cNvSpPr txBox="1"/>
          <p:nvPr/>
        </p:nvSpPr>
        <p:spPr>
          <a:xfrm>
            <a:off x="546100" y="1904833"/>
            <a:ext cx="5161017" cy="1947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終端機執行 uv run todo.py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確認重複任務被擋下並印出提示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確認標題顯示「共 1 </a:t>
            </a: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項</a:t>
            </a: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」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重複先前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commit 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操作，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commit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“</a:t>
            </a:r>
            <a:r>
              <a:rPr lang="zh-TW" altLang="zh-TW" sz="2000" dirty="0">
                <a:solidFill>
                  <a:srgbClr val="5C6B85"/>
                </a:solidFill>
                <a:latin typeface="Arial"/>
                <a:cs typeface="Arial"/>
              </a:rPr>
              <a:t>add: prevent duplicate task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cs typeface="Arial"/>
              </a:rPr>
              <a:t>”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，並推送至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GitHub</a:t>
            </a:r>
            <a:endParaRPr lang="zh-TW" altLang="zh-TW" sz="2000" dirty="0">
              <a:solidFill>
                <a:srgbClr val="5C6B85"/>
              </a:solidFill>
              <a:latin typeface="Arial"/>
              <a:cs typeface="Arial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ADE515E-3267-75E8-0066-8EF836853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117" y="3042575"/>
            <a:ext cx="5866284" cy="80989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445F6E7-2A12-3D78-A9E9-FDCD269A63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7115" y="1936363"/>
            <a:ext cx="5866285" cy="63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300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PHASE 4 ·</a:t>
            </a:r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PR</a:t>
            </a:r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合併與同步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83096"/>
            <a:ext cx="2450592" cy="3749040"/>
          </a:xfrm>
          <a:prstGeom prst="roundRect">
            <a:avLst>
              <a:gd name="adj" fmla="val 373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77240" y="2139128"/>
            <a:ext cx="457200" cy="4572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2139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1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77240" y="2751776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Compare &amp; pull request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77240" y="3526160"/>
            <a:ext cx="1993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base: main ← compare: feature/add-task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026664" y="3757616"/>
            <a:ext cx="201168" cy="0"/>
          </a:xfrm>
          <a:prstGeom prst="line">
            <a:avLst/>
          </a:prstGeom>
          <a:noFill/>
          <a:ln w="25400">
            <a:solidFill>
              <a:srgbClr val="2E6FF2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255264" y="1883096"/>
            <a:ext cx="2450592" cy="3749040"/>
          </a:xfrm>
          <a:prstGeom prst="roundRect">
            <a:avLst>
              <a:gd name="adj" fmla="val 373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3483864" y="2139128"/>
            <a:ext cx="457200" cy="4572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3483864" y="2139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2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483864" y="2751776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檢查 diff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3483864" y="3526160"/>
            <a:ext cx="1993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Files changed 確認只有 todo.py 被改動，寫一句 PR 說明後 Create pull request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733288" y="3757616"/>
            <a:ext cx="201168" cy="0"/>
          </a:xfrm>
          <a:prstGeom prst="line">
            <a:avLst/>
          </a:prstGeom>
          <a:noFill/>
          <a:ln w="25400">
            <a:solidFill>
              <a:srgbClr val="2E6FF2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5961888" y="1883096"/>
            <a:ext cx="2450592" cy="3749040"/>
          </a:xfrm>
          <a:prstGeom prst="roundRect">
            <a:avLst>
              <a:gd name="adj" fmla="val 373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190488" y="2139128"/>
            <a:ext cx="457200" cy="4572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 txBox="1"/>
          <p:nvPr/>
        </p:nvSpPr>
        <p:spPr>
          <a:xfrm>
            <a:off x="6190488" y="2139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3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190488" y="2751776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Merge pull request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6190488" y="3526160"/>
            <a:ext cx="1993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點 Merge pull request → Confirm merge 完成合併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439912" y="3757616"/>
            <a:ext cx="201168" cy="0"/>
          </a:xfrm>
          <a:prstGeom prst="line">
            <a:avLst/>
          </a:prstGeom>
          <a:noFill/>
          <a:ln w="25400">
            <a:solidFill>
              <a:srgbClr val="2E6FF2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8668512" y="1883096"/>
            <a:ext cx="2450592" cy="3749040"/>
          </a:xfrm>
          <a:prstGeom prst="roundRect">
            <a:avLst>
              <a:gd name="adj" fmla="val 373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8897112" y="2139128"/>
            <a:ext cx="457200" cy="4572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 txBox="1"/>
          <p:nvPr/>
        </p:nvSpPr>
        <p:spPr>
          <a:xfrm>
            <a:off x="8897112" y="2139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4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8897112" y="2751776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同步本機 main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8897112" y="3526160"/>
            <a:ext cx="1993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checkout main &amp;&amp; git pull，執行 uv run python todo.py 驗證 Feature 1</a:t>
            </a: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6142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4 · PR 合併與同步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155699" y="990600"/>
            <a:ext cx="732427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回到</a:t>
            </a: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GitHub </a:t>
            </a: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準備開啟</a:t>
            </a: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Pull Request</a:t>
            </a:r>
          </a:p>
        </p:txBody>
      </p:sp>
      <p:sp>
        <p:nvSpPr>
          <p:cNvPr id="14" name="Shape 12"/>
          <p:cNvSpPr/>
          <p:nvPr/>
        </p:nvSpPr>
        <p:spPr>
          <a:xfrm>
            <a:off x="546100" y="100330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546100" y="10033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1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546098" y="1905000"/>
            <a:ext cx="4183557" cy="2992821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查看個人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exercise 1 repository 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頁面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點擊 Compare &amp; pull request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BA9220B-544E-CEFB-BF42-EB22E01ED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655" y="1905000"/>
            <a:ext cx="6923472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710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C2433-A1A4-5FD9-631E-0B5B8811D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058A2B8-EC79-E0E9-27E9-4E6DD50E1B07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4 · PR 合併與同步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AD233D3-F0F7-B04E-7BFC-74552146419B}"/>
              </a:ext>
            </a:extLst>
          </p:cNvPr>
          <p:cNvSpPr txBox="1"/>
          <p:nvPr/>
        </p:nvSpPr>
        <p:spPr>
          <a:xfrm>
            <a:off x="1155700" y="990600"/>
            <a:ext cx="6985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確認變更後開啟 </a:t>
            </a:r>
            <a:r>
              <a:rPr lang="en-US" altLang="zh-TW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Pull Request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980762F-9DCD-ECA4-5A9B-70FC317FA7A5}"/>
              </a:ext>
            </a:extLst>
          </p:cNvPr>
          <p:cNvSpPr/>
          <p:nvPr/>
        </p:nvSpPr>
        <p:spPr>
          <a:xfrm>
            <a:off x="546100" y="100330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C8D240D-A4C8-BE0D-E4BB-915D025AA564}"/>
              </a:ext>
            </a:extLst>
          </p:cNvPr>
          <p:cNvSpPr txBox="1"/>
          <p:nvPr/>
        </p:nvSpPr>
        <p:spPr>
          <a:xfrm>
            <a:off x="546100" y="10033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2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D5AE142-DA52-179E-C08B-4A84D297A8A4}"/>
              </a:ext>
            </a:extLst>
          </p:cNvPr>
          <p:cNvSpPr txBox="1"/>
          <p:nvPr/>
        </p:nvSpPr>
        <p:spPr>
          <a:xfrm>
            <a:off x="546098" y="1905001"/>
            <a:ext cx="4131005" cy="1069427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查看下方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commit 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紀錄和檔案變更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確認只有 </a:t>
            </a: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todo.py</a:t>
            </a: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被改動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E6CB7B9-C5CC-F14F-FF23-B7F5B4654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7103" y="1905001"/>
            <a:ext cx="6968799" cy="3998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664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5C1F8-0534-EA96-5608-B8BB11ED6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84E596-5492-F250-E1F9-83FF60F2A6F9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4 · PR 合併與同步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0C7738F-27D4-925A-B633-1E11571E8091}"/>
              </a:ext>
            </a:extLst>
          </p:cNvPr>
          <p:cNvSpPr txBox="1"/>
          <p:nvPr/>
        </p:nvSpPr>
        <p:spPr>
          <a:xfrm>
            <a:off x="1155700" y="990600"/>
            <a:ext cx="6985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確認變更後開啟 </a:t>
            </a:r>
            <a:r>
              <a:rPr lang="en-US" altLang="zh-TW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Pull Request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CE33A4C-615D-6132-9450-5AA3C0DBC0C1}"/>
              </a:ext>
            </a:extLst>
          </p:cNvPr>
          <p:cNvSpPr/>
          <p:nvPr/>
        </p:nvSpPr>
        <p:spPr>
          <a:xfrm>
            <a:off x="546100" y="100330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ADC8C12-EF7B-1841-8C8B-AC19F4B6D7E9}"/>
              </a:ext>
            </a:extLst>
          </p:cNvPr>
          <p:cNvSpPr txBox="1"/>
          <p:nvPr/>
        </p:nvSpPr>
        <p:spPr>
          <a:xfrm>
            <a:off x="546100" y="10033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2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AA4A6B7-289D-9E52-9EFD-ED9ED5FA964D}"/>
              </a:ext>
            </a:extLst>
          </p:cNvPr>
          <p:cNvSpPr txBox="1"/>
          <p:nvPr/>
        </p:nvSpPr>
        <p:spPr>
          <a:xfrm>
            <a:off x="546098" y="1905001"/>
            <a:ext cx="4109985" cy="1069427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回到上方確認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base: main ← compare: feature/add-</a:t>
            </a: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task以及右側顯示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Able to merge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點擊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Create Pull Request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A458072-7B0D-6723-F256-5C157B3EE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905002"/>
            <a:ext cx="6985000" cy="4005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830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4 · PR 合併與同步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155700" y="990600"/>
            <a:ext cx="990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合併</a:t>
            </a: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Pull Request</a:t>
            </a:r>
          </a:p>
        </p:txBody>
      </p:sp>
      <p:sp>
        <p:nvSpPr>
          <p:cNvPr id="14" name="Shape 12"/>
          <p:cNvSpPr/>
          <p:nvPr/>
        </p:nvSpPr>
        <p:spPr>
          <a:xfrm>
            <a:off x="546100" y="100330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546100" y="10033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3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546098" y="1905000"/>
            <a:ext cx="5203061" cy="3589319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no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PR 建立後，點擊 Merge pull request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再點一次 Confirm merge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看到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Pull request successfully merged and closed 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說明合併成羹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7D6567F-92CF-8CDA-C892-3E67880516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87" t="58975" r="30804" b="20042"/>
          <a:stretch>
            <a:fillRect/>
          </a:stretch>
        </p:blipFill>
        <p:spPr>
          <a:xfrm>
            <a:off x="5749159" y="1905000"/>
            <a:ext cx="4729655" cy="92491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C47DB8CF-A5A1-0792-F130-5EC8A611B5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01" t="45411" r="30865"/>
          <a:stretch>
            <a:fillRect/>
          </a:stretch>
        </p:blipFill>
        <p:spPr>
          <a:xfrm>
            <a:off x="5749159" y="3039820"/>
            <a:ext cx="4729655" cy="238500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E876AACF-CFEB-1473-6840-7CA66F2D5A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9159" y="5634740"/>
            <a:ext cx="4729656" cy="50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159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4 · PR 合併與同步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155700" y="990600"/>
            <a:ext cx="6985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同步變更驗證</a:t>
            </a:r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Feature 1</a:t>
            </a:r>
            <a:endParaRPr lang="en-US" sz="3400" b="1" dirty="0">
              <a:solidFill>
                <a:srgbClr val="1B1F3B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6100" y="100330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546100" y="10033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4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546097" y="1905000"/>
            <a:ext cx="6192159" cy="477012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回到本機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同步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main 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分支到最新進度</a:t>
            </a:r>
            <a:endParaRPr lang="en-US" altLang="zh-TW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VS Code：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左下角點分支名稱切回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main 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打開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git graph </a:t>
            </a: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面板，點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擊</a:t>
            </a: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上方的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Pull </a:t>
            </a: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按鈕</a:t>
            </a:r>
            <a:endParaRPr lang="en-US" altLang="zh-TW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終端機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：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checkout main 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pull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驗證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Feature 1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：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終端機執行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uv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run python </a:t>
            </a: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todo.py</a:t>
            </a:r>
            <a:endParaRPr lang="en-US" altLang="zh-TW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確認重複任務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被攔截，</a:t>
            </a: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標題顯示項目數</a:t>
            </a:r>
            <a:endParaRPr lang="en-US" altLang="zh-TW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lvl="2">
              <a:lnSpc>
                <a:spcPct val="150000"/>
              </a:lnSpc>
            </a:pPr>
            <a:endParaRPr lang="en-US" altLang="zh-TW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BB0A0E1-8A15-2315-B513-7A6E8DBAA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501" y="1905000"/>
            <a:ext cx="3683000" cy="7874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69D823E-FDA3-9B49-EB32-D29891E18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101" y="3059754"/>
            <a:ext cx="3733800" cy="7620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009EE2AF-1ECD-5420-7B11-B44B4E9ADE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262137"/>
            <a:ext cx="5850280" cy="63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431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Arial"/>
                <a:ea typeface="Noto Sans TC" pitchFamily="34" charset="-122"/>
                <a:cs typeface="Arial"/>
              </a:rPr>
              <a:t>回顧 Phase 1–4</a:t>
            </a:r>
            <a:endParaRPr lang="en-US" sz="3000" dirty="0">
              <a:latin typeface="Arial"/>
              <a:cs typeface="Arial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2D5514CD-BCEC-9E45-81A6-147529242FD4}"/>
              </a:ext>
            </a:extLst>
          </p:cNvPr>
          <p:cNvSpPr/>
          <p:nvPr/>
        </p:nvSpPr>
        <p:spPr>
          <a:xfrm>
            <a:off x="546100" y="1879600"/>
            <a:ext cx="508000" cy="508000"/>
          </a:xfrm>
          <a:prstGeom prst="ellipse">
            <a:avLst/>
          </a:prstGeom>
          <a:solidFill>
            <a:srgbClr val="1B3F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5EB6359-D069-2B4A-BA9B-72C9CB9084DE}"/>
              </a:ext>
            </a:extLst>
          </p:cNvPr>
          <p:cNvSpPr txBox="1"/>
          <p:nvPr/>
        </p:nvSpPr>
        <p:spPr>
          <a:xfrm>
            <a:off x="1333500" y="1828800"/>
            <a:ext cx="10312400" cy="639662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Arial"/>
                <a:ea typeface="Noto Sans TC" pitchFamily="34" charset="-122"/>
                <a:cs typeface="Arial"/>
              </a:rPr>
              <a:t>Phase 1 · 建立專案環境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dirty="0" err="1">
                <a:solidFill>
                  <a:srgbClr val="44546A"/>
                </a:solidFill>
                <a:latin typeface="Arial"/>
                <a:ea typeface="Noto Sans TC" pitchFamily="34" charset="-122"/>
                <a:cs typeface="Arial"/>
              </a:rPr>
              <a:t>用</a:t>
            </a:r>
            <a:r>
              <a:rPr lang="en-US" dirty="0">
                <a:solidFill>
                  <a:srgbClr val="44546A"/>
                </a:solidFill>
                <a:latin typeface="Arial"/>
                <a:ea typeface="Noto Sans TC" pitchFamily="34" charset="-122"/>
                <a:cs typeface="Arial"/>
              </a:rPr>
              <a:t> Template 建立各自獨立的 Repository，讓版本歷史從一開始就可追蹤、彼此不互相干擾。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23E684D8-115E-AF4C-97FE-A61F6ABA883A}"/>
              </a:ext>
            </a:extLst>
          </p:cNvPr>
          <p:cNvSpPr/>
          <p:nvPr/>
        </p:nvSpPr>
        <p:spPr>
          <a:xfrm>
            <a:off x="546100" y="3098800"/>
            <a:ext cx="508000" cy="508000"/>
          </a:xfrm>
          <a:prstGeom prst="ellipse">
            <a:avLst/>
          </a:prstGeom>
          <a:solidFill>
            <a:srgbClr val="1B3F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82F54D8-8C98-B344-8DE5-098654B38381}"/>
              </a:ext>
            </a:extLst>
          </p:cNvPr>
          <p:cNvSpPr txBox="1"/>
          <p:nvPr/>
        </p:nvSpPr>
        <p:spPr>
          <a:xfrm>
            <a:off x="1333500" y="3048000"/>
            <a:ext cx="10312400" cy="639662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Arial"/>
                <a:ea typeface="Noto Sans TC" pitchFamily="34" charset="-122"/>
                <a:cs typeface="Arial"/>
              </a:rPr>
              <a:t>Phase 2 · </a:t>
            </a:r>
            <a:r>
              <a:rPr lang="en-US" sz="2000" b="1" dirty="0" err="1">
                <a:solidFill>
                  <a:srgbClr val="1A1A2E"/>
                </a:solidFill>
                <a:latin typeface="Arial"/>
                <a:ea typeface="Noto Sans TC" pitchFamily="34" charset="-122"/>
                <a:cs typeface="Arial"/>
              </a:rPr>
              <a:t>專案版本管理</a:t>
            </a:r>
            <a:endParaRPr lang="en-US" sz="2000" b="1" dirty="0">
              <a:solidFill>
                <a:srgbClr val="1A1A2E"/>
              </a:solidFill>
              <a:latin typeface="Arial"/>
              <a:ea typeface="Noto Sans TC" pitchFamily="34" charset="-122"/>
              <a:cs typeface="Arial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dirty="0" err="1">
                <a:solidFill>
                  <a:srgbClr val="44546A"/>
                </a:solidFill>
                <a:latin typeface="Arial"/>
                <a:ea typeface="Noto Sans TC" pitchFamily="34" charset="-122"/>
                <a:cs typeface="Arial"/>
              </a:rPr>
              <a:t>用</a:t>
            </a:r>
            <a:r>
              <a:rPr lang="en-US" dirty="0">
                <a:solidFill>
                  <a:srgbClr val="44546A"/>
                </a:solidFill>
                <a:latin typeface="Arial"/>
                <a:ea typeface="Noto Sans TC" pitchFamily="34" charset="-122"/>
                <a:cs typeface="Arial"/>
              </a:rPr>
              <a:t> feature </a:t>
            </a:r>
            <a:r>
              <a:rPr lang="en-US" dirty="0" err="1">
                <a:solidFill>
                  <a:srgbClr val="44546A"/>
                </a:solidFill>
                <a:latin typeface="Arial"/>
                <a:ea typeface="Noto Sans TC" pitchFamily="34" charset="-122"/>
                <a:cs typeface="Arial"/>
              </a:rPr>
              <a:t>分支隔離開發內容，讓</a:t>
            </a:r>
            <a:r>
              <a:rPr lang="en-US" dirty="0">
                <a:solidFill>
                  <a:srgbClr val="44546A"/>
                </a:solidFill>
                <a:latin typeface="Arial"/>
                <a:ea typeface="Noto Sans TC" pitchFamily="34" charset="-122"/>
                <a:cs typeface="Arial"/>
              </a:rPr>
              <a:t> main </a:t>
            </a:r>
            <a:r>
              <a:rPr lang="en-US" dirty="0" err="1">
                <a:solidFill>
                  <a:srgbClr val="44546A"/>
                </a:solidFill>
                <a:latin typeface="Arial"/>
                <a:ea typeface="Noto Sans TC" pitchFamily="34" charset="-122"/>
                <a:cs typeface="Arial"/>
              </a:rPr>
              <a:t>保持穩定，方便多功能並行開發</a:t>
            </a:r>
            <a:r>
              <a:rPr lang="en-US" dirty="0">
                <a:solidFill>
                  <a:srgbClr val="44546A"/>
                </a:solidFill>
                <a:latin typeface="Arial"/>
                <a:ea typeface="Noto Sans TC" pitchFamily="34" charset="-122"/>
                <a:cs typeface="Arial"/>
              </a:rPr>
              <a:t>。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30A9B0A3-B5B6-3640-B23A-1BEFC5196B47}"/>
              </a:ext>
            </a:extLst>
          </p:cNvPr>
          <p:cNvSpPr/>
          <p:nvPr/>
        </p:nvSpPr>
        <p:spPr>
          <a:xfrm>
            <a:off x="546100" y="4318000"/>
            <a:ext cx="508000" cy="508000"/>
          </a:xfrm>
          <a:prstGeom prst="ellipse">
            <a:avLst/>
          </a:prstGeom>
          <a:solidFill>
            <a:srgbClr val="1B3F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34A0516-C973-D24E-ABBA-D4B0B0270BD5}"/>
              </a:ext>
            </a:extLst>
          </p:cNvPr>
          <p:cNvSpPr txBox="1"/>
          <p:nvPr/>
        </p:nvSpPr>
        <p:spPr>
          <a:xfrm>
            <a:off x="1333500" y="4267200"/>
            <a:ext cx="10312400" cy="639662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Arial"/>
                <a:ea typeface="Noto Sans TC" pitchFamily="34" charset="-122"/>
                <a:cs typeface="Arial"/>
              </a:rPr>
              <a:t>Phase 3 · 防止任務重複機制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dirty="0" err="1">
                <a:solidFill>
                  <a:srgbClr val="44546A"/>
                </a:solidFill>
                <a:latin typeface="Arial"/>
                <a:ea typeface="Noto Sans TC" pitchFamily="34" charset="-122"/>
                <a:cs typeface="Arial"/>
              </a:rPr>
              <a:t>修改功能前先理解既有程式邏輯，養成同步考慮邊界情況（edge</a:t>
            </a:r>
            <a:r>
              <a:rPr lang="en-US" dirty="0">
                <a:solidFill>
                  <a:srgbClr val="44546A"/>
                </a:solidFill>
                <a:latin typeface="Arial"/>
                <a:ea typeface="Noto Sans TC" pitchFamily="34" charset="-122"/>
                <a:cs typeface="Arial"/>
              </a:rPr>
              <a:t> case）的習慣。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5CDB2C8D-4681-5C40-9041-A0D5741FC720}"/>
              </a:ext>
            </a:extLst>
          </p:cNvPr>
          <p:cNvSpPr/>
          <p:nvPr/>
        </p:nvSpPr>
        <p:spPr>
          <a:xfrm>
            <a:off x="546100" y="5537200"/>
            <a:ext cx="508000" cy="508000"/>
          </a:xfrm>
          <a:prstGeom prst="ellipse">
            <a:avLst/>
          </a:prstGeom>
          <a:solidFill>
            <a:srgbClr val="1B3F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098129C-47D9-8D45-A26C-B473B69410DD}"/>
              </a:ext>
            </a:extLst>
          </p:cNvPr>
          <p:cNvSpPr txBox="1"/>
          <p:nvPr/>
        </p:nvSpPr>
        <p:spPr>
          <a:xfrm>
            <a:off x="1333500" y="5486400"/>
            <a:ext cx="10312400" cy="639662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Arial"/>
                <a:ea typeface="Noto Sans TC" pitchFamily="34" charset="-122"/>
                <a:cs typeface="Arial"/>
              </a:rPr>
              <a:t>Phase 4 · PR 合併與同步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44546A"/>
                </a:solidFill>
                <a:latin typeface="Arial"/>
                <a:ea typeface="Noto Sans TC" pitchFamily="34" charset="-122"/>
                <a:cs typeface="Arial"/>
              </a:rPr>
              <a:t>Pull Request 是程式碼審查與版本同步的節點，讓變更被檢視、確認無誤後才併入 main。</a:t>
            </a:r>
          </a:p>
        </p:txBody>
      </p:sp>
    </p:spTree>
    <p:extLst>
      <p:ext uri="{BB962C8B-B14F-4D97-AF65-F5344CB8AC3E}">
        <p14:creationId xmlns:p14="http://schemas.microsoft.com/office/powerpoint/2010/main" val="513111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892040"/>
            <a:ext cx="4572000" cy="4572000"/>
          </a:xfrm>
          <a:prstGeom prst="ellipse">
            <a:avLst/>
          </a:prstGeom>
          <a:solidFill>
            <a:srgbClr val="EAF1F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9875520" y="-1463040"/>
            <a:ext cx="3657600" cy="3657600"/>
          </a:xfrm>
          <a:prstGeom prst="ellipse">
            <a:avLst/>
          </a:prstGeom>
          <a:solidFill>
            <a:srgbClr val="BBD3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10149840" y="-1188720"/>
            <a:ext cx="3108960" cy="3108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538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 err="1">
                <a:solidFill>
                  <a:srgbClr val="1A1A2E"/>
                </a:solidFill>
                <a:latin typeface="Arial"/>
                <a:ea typeface="Noto Sans TC" pitchFamily="34" charset="-122"/>
                <a:cs typeface="Arial"/>
              </a:rPr>
              <a:t>繳交規範</a:t>
            </a:r>
            <a:endParaRPr lang="en-US" sz="5400" dirty="0">
              <a:latin typeface="Arial"/>
              <a:cs typeface="Arial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AC09860-E76E-9C43-8982-1F7D9839BB41}"/>
              </a:ext>
            </a:extLst>
          </p:cNvPr>
          <p:cNvSpPr txBox="1"/>
          <p:nvPr/>
        </p:nvSpPr>
        <p:spPr>
          <a:xfrm>
            <a:off x="822960" y="2717487"/>
            <a:ext cx="8890000" cy="221406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2E6FF2"/>
                </a:solidFill>
                <a:latin typeface="Arial"/>
                <a:ea typeface="Noto Sans TC" pitchFamily="34" charset="-122"/>
                <a:cs typeface="Arial"/>
              </a:rPr>
              <a:t>繳交項目</a:t>
            </a:r>
          </a:p>
          <a:p>
            <a:pPr marL="285750" indent="-285750">
              <a:lnSpc>
                <a:spcPct val="12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Arial"/>
                <a:ea typeface="Noto Sans TC" pitchFamily="34" charset="-122"/>
                <a:cs typeface="Arial"/>
              </a:rPr>
              <a:t>GitHub repo 連結（含 Feature 1、2 兩次 PR 合併紀錄）</a:t>
            </a:r>
          </a:p>
          <a:p>
            <a:pPr marL="285750" indent="-285750">
              <a:lnSpc>
                <a:spcPct val="12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Arial"/>
                <a:ea typeface="Noto Sans TC" pitchFamily="34" charset="-122"/>
                <a:cs typeface="Arial"/>
              </a:rPr>
              <a:t>Git Graph 截圖（VS Code 畫面，需看得出分支與合併過程）</a:t>
            </a:r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2E6FF2"/>
                </a:solidFill>
                <a:latin typeface="Arial"/>
                <a:ea typeface="Noto Sans TC" pitchFamily="34" charset="-122"/>
                <a:cs typeface="Arial"/>
              </a:rPr>
              <a:t>作業規定</a:t>
            </a:r>
          </a:p>
          <a:p>
            <a:pPr marL="285750" indent="-285750">
              <a:lnSpc>
                <a:spcPct val="12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Arial"/>
                <a:ea typeface="Noto Sans TC" pitchFamily="34" charset="-122"/>
                <a:cs typeface="Arial"/>
              </a:rPr>
              <a:t>每份作業配分 2.5%</a:t>
            </a:r>
          </a:p>
          <a:p>
            <a:pPr marL="285750" indent="-285750">
              <a:lnSpc>
                <a:spcPct val="12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333333"/>
                </a:solidFill>
                <a:latin typeface="Arial"/>
                <a:ea typeface="Noto Sans TC" pitchFamily="34" charset="-122"/>
                <a:cs typeface="Arial"/>
              </a:rPr>
              <a:t>課堂當天</a:t>
            </a:r>
            <a:r>
              <a:rPr lang="en-US" dirty="0">
                <a:solidFill>
                  <a:srgbClr val="333333"/>
                </a:solidFill>
                <a:latin typeface="Arial"/>
                <a:ea typeface="Noto Sans TC" pitchFamily="34" charset="-122"/>
                <a:cs typeface="Arial"/>
              </a:rPr>
              <a:t> 23:59 分前繳交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59D4A11-C5AE-F7D0-B9C5-32D30D9B9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053840"/>
            <a:ext cx="48768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0069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PHASE 5 ·</a:t>
            </a:r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刪除任務功能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在 feature/delete-task 分支上新增 delete_task 功能，讓使用者可以依名稱移除清單中的任務。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300" name="Card BG 300"/>
          <p:cNvSpPr/>
          <p:nvPr/>
        </p:nvSpPr>
        <p:spPr>
          <a:xfrm>
            <a:off x="546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" name="Card Icon 301"/>
          <p:cNvSpPr/>
          <p:nvPr/>
        </p:nvSpPr>
        <p:spPr>
          <a:xfrm>
            <a:off x="850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2" name="Card Num 302"/>
          <p:cNvSpPr txBox="1"/>
          <p:nvPr/>
        </p:nvSpPr>
        <p:spPr>
          <a:xfrm>
            <a:off x="850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①</a:t>
            </a:r>
          </a:p>
        </p:txBody>
      </p:sp>
      <p:sp>
        <p:nvSpPr>
          <p:cNvPr id="303" name="Card Title 303"/>
          <p:cNvSpPr txBox="1"/>
          <p:nvPr/>
        </p:nvSpPr>
        <p:spPr>
          <a:xfrm>
            <a:off x="850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找到並移除任務</a:t>
            </a:r>
          </a:p>
        </p:txBody>
      </p:sp>
      <p:sp>
        <p:nvSpPr>
          <p:cNvPr id="304" name="Card Desc 304"/>
          <p:cNvSpPr txBox="1"/>
          <p:nvPr/>
        </p:nvSpPr>
        <p:spPr>
          <a:xfrm>
            <a:off x="850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delete_task 依名稱在清單中搜尋，找到就移除該筆資料</a:t>
            </a:r>
          </a:p>
        </p:txBody>
      </p:sp>
      <p:sp>
        <p:nvSpPr>
          <p:cNvPr id="305" name="Card BG 305"/>
          <p:cNvSpPr/>
          <p:nvPr/>
        </p:nvSpPr>
        <p:spPr>
          <a:xfrm>
            <a:off x="4229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" name="Card Icon 306"/>
          <p:cNvSpPr/>
          <p:nvPr/>
        </p:nvSpPr>
        <p:spPr>
          <a:xfrm>
            <a:off x="4533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7" name="Card Num 307"/>
          <p:cNvSpPr txBox="1"/>
          <p:nvPr/>
        </p:nvSpPr>
        <p:spPr>
          <a:xfrm>
            <a:off x="4533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②</a:t>
            </a:r>
          </a:p>
        </p:txBody>
      </p:sp>
      <p:sp>
        <p:nvSpPr>
          <p:cNvPr id="308" name="Card Title 308"/>
          <p:cNvSpPr txBox="1"/>
          <p:nvPr/>
        </p:nvSpPr>
        <p:spPr>
          <a:xfrm>
            <a:off x="4533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處理找不到的情況</a:t>
            </a:r>
          </a:p>
        </p:txBody>
      </p:sp>
      <p:sp>
        <p:nvSpPr>
          <p:cNvPr id="309" name="Card Desc 309"/>
          <p:cNvSpPr txBox="1"/>
          <p:nvPr/>
        </p:nvSpPr>
        <p:spPr>
          <a:xfrm>
            <a:off x="4533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名稱不存在時顯示提示訊息，程式不會中斷執行</a:t>
            </a:r>
          </a:p>
        </p:txBody>
      </p:sp>
      <p:sp>
        <p:nvSpPr>
          <p:cNvPr id="310" name="Card BG 310"/>
          <p:cNvSpPr/>
          <p:nvPr/>
        </p:nvSpPr>
        <p:spPr>
          <a:xfrm>
            <a:off x="7912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1" name="Card Icon 311"/>
          <p:cNvSpPr/>
          <p:nvPr/>
        </p:nvSpPr>
        <p:spPr>
          <a:xfrm>
            <a:off x="8216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2" name="Card Num 312"/>
          <p:cNvSpPr txBox="1"/>
          <p:nvPr/>
        </p:nvSpPr>
        <p:spPr>
          <a:xfrm>
            <a:off x="8216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③</a:t>
            </a:r>
          </a:p>
        </p:txBody>
      </p:sp>
      <p:sp>
        <p:nvSpPr>
          <p:cNvPr id="313" name="Card Title 313"/>
          <p:cNvSpPr txBox="1"/>
          <p:nvPr/>
        </p:nvSpPr>
        <p:spPr>
          <a:xfrm>
            <a:off x="8216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更新畫面並推送 Commit</a:t>
            </a:r>
          </a:p>
        </p:txBody>
      </p:sp>
      <p:sp>
        <p:nvSpPr>
          <p:cNvPr id="314" name="Card Desc 314"/>
          <p:cNvSpPr txBox="1"/>
          <p:nvPr/>
        </p:nvSpPr>
        <p:spPr>
          <a:xfrm>
            <a:off x="8216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show_tasks() 重新顯示清單，驗證後推送 commit</a:t>
            </a:r>
          </a:p>
        </p:txBody>
      </p:sp>
    </p:spTree>
    <p:extLst>
      <p:ext uri="{BB962C8B-B14F-4D97-AF65-F5344CB8AC3E}">
        <p14:creationId xmlns:p14="http://schemas.microsoft.com/office/powerpoint/2010/main" val="21275451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5 · 刪除任務功能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46100" y="990600"/>
            <a:ext cx="914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推送刪除任務功能並開啟</a:t>
            </a:r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PR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402" name="Text Step List"/>
          <p:cNvSpPr txBox="1"/>
          <p:nvPr/>
        </p:nvSpPr>
        <p:spPr>
          <a:xfrm>
            <a:off x="546100" y="1905000"/>
            <a:ext cx="4572000" cy="419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切換到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feature/delete-task 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分支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修改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todo.py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提交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“add: delete </a:t>
            </a: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task”並推送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在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GitHub 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頁面開啟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PR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4E320D5-9122-ED70-184C-0438770AD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100" y="1905000"/>
            <a:ext cx="6527800" cy="442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0395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b="1" kern="0" spc="200" dirty="0">
                <a:solidFill>
                  <a:srgbClr val="1D3F72"/>
                </a:solidFill>
                <a:ea typeface="Noto Sans TC" pitchFamily="34" charset="-122"/>
                <a:cs typeface="Arial"/>
              </a:rPr>
              <a:t>PHASE 5 · </a:t>
            </a:r>
            <a:r>
              <a:rPr lang="en-US" altLang="zh-TW" b="1" kern="0" spc="200" dirty="0" err="1">
                <a:solidFill>
                  <a:srgbClr val="1D3F72"/>
                </a:solidFill>
                <a:ea typeface="Noto Sans TC" pitchFamily="34" charset="-122"/>
                <a:cs typeface="Arial"/>
              </a:rPr>
              <a:t>刪除任務功能</a:t>
            </a:r>
            <a:endParaRPr lang="en-US" altLang="zh-TW" b="1" kern="0" spc="200" dirty="0">
              <a:solidFill>
                <a:srgbClr val="1D3F72"/>
              </a:solidFill>
              <a:ea typeface="Noto Sans TC" pitchFamily="34" charset="-122"/>
              <a:cs typeface="Arial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衝突出現了：Merge conflicts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60704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建立 PR 後，頁面會出現紅字 Can't automatically merge — 這是 GitHub 提前告訴你 main 跟 feature/delete-task 已經衝突。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675120" cy="2743200"/>
          </a:xfrm>
          <a:prstGeom prst="roundRect">
            <a:avLst>
              <a:gd name="adj" fmla="val 2667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6FF2"/>
                </a:solidFill>
                <a:latin typeface="Arial"/>
                <a:ea typeface="Noto Sans TC" pitchFamily="34" charset="-122"/>
                <a:cs typeface="Arial"/>
              </a:rPr>
              <a:t>todo.py 的衝突標記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6217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AB6FF"/>
                </a:solidFill>
                <a:latin typeface="Arial"/>
                <a:ea typeface="Courier New" pitchFamily="34" charset="-122"/>
                <a:cs typeface="Arial"/>
              </a:rPr>
              <a:t>&lt;&lt;&lt;&lt;&lt;&lt;&lt; main</a:t>
            </a:r>
            <a:endParaRPr lang="en-US" sz="14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CBD3E8"/>
                </a:solidFill>
                <a:latin typeface="Arial"/>
                <a:ea typeface="Courier New" pitchFamily="34" charset="-122"/>
                <a:cs typeface="Arial"/>
              </a:rPr>
              <a:t>    print(f"=== 待辦清單（共 {len(tasks)} 項）===")</a:t>
            </a:r>
            <a:endParaRPr lang="en-US" sz="14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9AB6FF"/>
                </a:solidFill>
                <a:latin typeface="Arial"/>
                <a:ea typeface="Courier New" pitchFamily="34" charset="-122"/>
                <a:cs typeface="Arial"/>
              </a:rPr>
              <a:t>=======</a:t>
            </a:r>
            <a:endParaRPr lang="en-US" sz="14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CBD3E8"/>
                </a:solidFill>
                <a:latin typeface="Arial"/>
                <a:ea typeface="Courier New" pitchFamily="34" charset="-122"/>
                <a:cs typeface="Arial"/>
              </a:rPr>
              <a:t>    print(f"=== 待辦清單（剩餘 {len(tasks)} 項）===")</a:t>
            </a:r>
            <a:endParaRPr lang="en-US" sz="14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9AB6FF"/>
                </a:solidFill>
                <a:latin typeface="Arial"/>
                <a:ea typeface="Courier New" pitchFamily="34" charset="-122"/>
                <a:cs typeface="Arial"/>
              </a:rPr>
              <a:t>&gt;&gt;&gt;&gt;&gt;&gt;&gt; feature/delete-task</a:t>
            </a:r>
            <a:endParaRPr lang="en-US" sz="1400" dirty="0">
              <a:latin typeface="Arial"/>
              <a:cs typeface="Arial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52360" y="2148840"/>
            <a:ext cx="4206240" cy="2743200"/>
          </a:xfrm>
          <a:prstGeom prst="roundRect">
            <a:avLst>
              <a:gd name="adj" fmla="val 3333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7680960" y="2331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衝突原因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680960" y="274320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兩邊都改了 show_tasks() 的標題那一行</a:t>
            </a:r>
            <a:endParaRPr lang="en-US" sz="1500" dirty="0">
              <a:latin typeface="Arial"/>
              <a:cs typeface="Arial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但改成不一樣的內容（「共」vs「剩餘」）</a:t>
            </a:r>
            <a:endParaRPr lang="en-US" sz="1500" dirty="0">
              <a:latin typeface="Arial"/>
              <a:cs typeface="Arial"/>
            </a:endParaRPr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其他部分（防重複、delete_task）不衝突，Git 會自動合併</a:t>
            </a:r>
            <a:endParaRPr lang="en-US" sz="1500" dirty="0">
              <a:latin typeface="Arial"/>
              <a:cs typeface="Arial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BEAE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822960" y="516636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PR 頁面上：紅底 Merge conflicts 標籤 ＋ 「This branch has conflicts that must be resolved」＋ 灰色不可按的 Merge pull request 按鈕</a:t>
            </a:r>
            <a:endParaRPr lang="en-US"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833209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PHASE 6 ·</a:t>
            </a:r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解決</a:t>
            </a:r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Merge Conflict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450592" cy="3291840"/>
          </a:xfrm>
          <a:prstGeom prst="roundRect">
            <a:avLst>
              <a:gd name="adj" fmla="val 373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77240" y="1993392"/>
            <a:ext cx="457200" cy="4572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1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Edit on the web</a:t>
            </a:r>
            <a:endParaRPr lang="en-US" sz="1950" dirty="0">
              <a:latin typeface="Arial"/>
              <a:cs typeface="Arial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77240" y="3154680"/>
            <a:ext cx="1993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點 Resolve conflicts 旁下拉箭頭 → 選 Edit on the web（不要選 Fix with Copilot）</a:t>
            </a:r>
            <a:endParaRPr lang="en-US" sz="1550" dirty="0">
              <a:latin typeface="Arial"/>
              <a:cs typeface="Arial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55264" y="1737360"/>
            <a:ext cx="2450592" cy="3291840"/>
          </a:xfrm>
          <a:prstGeom prst="roundRect">
            <a:avLst>
              <a:gd name="adj" fmla="val 373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483864" y="1993392"/>
            <a:ext cx="457200" cy="4572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3483864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2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483864" y="260604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留一種說法</a:t>
            </a:r>
            <a:endParaRPr lang="en-US" sz="1950" dirty="0">
              <a:latin typeface="Arial"/>
              <a:cs typeface="Arial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483864" y="3154680"/>
            <a:ext cx="1993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刪除衝突標記（&lt;&lt;&lt;&lt;&lt;&lt;&lt;、=======、&gt;&gt;&gt;&gt;&gt;&gt;&gt;）跟不要的那一行，只留一個標題版本</a:t>
            </a:r>
            <a:endParaRPr lang="en-US" sz="1550" dirty="0">
              <a:latin typeface="Arial"/>
              <a:cs typeface="Arial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61888" y="1737360"/>
            <a:ext cx="2450592" cy="3291840"/>
          </a:xfrm>
          <a:prstGeom prst="roundRect">
            <a:avLst>
              <a:gd name="adj" fmla="val 373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6190488" y="1993392"/>
            <a:ext cx="457200" cy="4572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6190488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3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190488" y="260604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Mark as resolved</a:t>
            </a:r>
            <a:endParaRPr lang="en-US" sz="1950" dirty="0">
              <a:latin typeface="Arial"/>
              <a:cs typeface="Arial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190488" y="3154680"/>
            <a:ext cx="1993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右上角紅色 1 conflict 消失、變成綠色打勾 Resolved 後，點 Mark as resolved</a:t>
            </a:r>
            <a:endParaRPr lang="en-US" sz="1550" dirty="0">
              <a:latin typeface="Arial"/>
              <a:cs typeface="Arial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68512" y="1737360"/>
            <a:ext cx="2450592" cy="3291840"/>
          </a:xfrm>
          <a:prstGeom prst="roundRect">
            <a:avLst>
              <a:gd name="adj" fmla="val 3731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8897112" y="1993392"/>
            <a:ext cx="457200" cy="4572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 txBox="1"/>
          <p:nvPr/>
        </p:nvSpPr>
        <p:spPr>
          <a:xfrm>
            <a:off x="889711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4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8897112" y="260604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Commit merge</a:t>
            </a:r>
            <a:endParaRPr lang="en-US" sz="1950" dirty="0">
              <a:latin typeface="Arial"/>
              <a:cs typeface="Arial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8897112" y="3154680"/>
            <a:ext cx="1993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CBD3E8"/>
                </a:solidFill>
                <a:latin typeface="Arial"/>
                <a:ea typeface="Noto Sans TC" pitchFamily="34" charset="-122"/>
                <a:cs typeface="Arial"/>
              </a:rPr>
              <a:t>回到 PR 畫面，點綠色 Commit merge 按鈕完成 merge</a:t>
            </a:r>
            <a:endParaRPr lang="en-US" sz="1550" dirty="0">
              <a:latin typeface="Arial"/>
              <a:cs typeface="Arial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 txBox="1"/>
          <p:nvPr/>
        </p:nvSpPr>
        <p:spPr>
          <a:xfrm>
            <a:off x="822960" y="53492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接著回本機同步：git checkout main &amp;&amp; git pull，執行 uv run todo.py 確認新增防重複、刪除功能都正常運作，標題顯示也正確。</a:t>
            </a:r>
            <a:endParaRPr lang="en-US"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6645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9574179963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2E6FF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anose="020F0302020204030204"/>
        <a:ea typeface="Noto Sans T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Noto Sans T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3BDBF3F-32E4-0B4C-BB8D-0A8EBFCC1EF3}">
  <we:reference id="wa200010725" version="1.0.0.1" store="zh-TW" storeType="OMEX"/>
  <we:alternateReferences>
    <we:reference id="WA200010725" version="1.0.0.1" store="WA200010725" storeType="OMEX"/>
  </we:alternateReferences>
  <we:properties>
    <we:property name="claude.fileId" value="&quot;638f36e9-a412-4447-9e56-68fe7ad0c19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858</TotalTime>
  <Words>1171</Words>
  <Application>Microsoft Macintosh PowerPoint</Application>
  <PresentationFormat>寬螢幕</PresentationFormat>
  <Paragraphs>275</Paragraphs>
  <Slides>27</Slides>
  <Notes>26</Notes>
  <HiddenSlides>4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0" baseType="lpstr">
      <vt:lpstr>Noto Sans TC</vt:lpstr>
      <vt:lpstr>Arial</vt:lpstr>
      <vt:lpstr>Office Theme [1789574179963]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薛耀智 (115522076)</cp:lastModifiedBy>
  <cp:revision>92</cp:revision>
  <dcterms:created xsi:type="dcterms:W3CDTF">2026-09-15T08:24:35Z</dcterms:created>
  <dcterms:modified xsi:type="dcterms:W3CDTF">2026-09-18T02:41:15Z</dcterms:modified>
</cp:coreProperties>
</file>